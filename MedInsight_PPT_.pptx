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Times New Roman Bold" panose="02020803070505020304" pitchFamily="18" charset="0"/>
      <p:bold r:id="rId20"/>
    </p:embeddedFont>
    <p:embeddedFont>
      <p:font typeface="Times New Roman Italics" panose="020B0604020202020204" charset="0"/>
      <p:regular r:id="rId21"/>
    </p:embeddedFont>
    <p:embeddedFont>
      <p:font typeface="Times New Roman M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301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4B79E8-C3F4-92A7-C3AD-A0E7ACE94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83B61D-D772-4B1B-8AE0-C70EC445B0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20E71-C10C-438B-8AC4-CE93C0119AE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23DC0-0C27-E8B8-F053-A0834FA9F7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AFA01-3723-EFB3-68BA-F6E344A637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A6C3F-18B9-4290-AE60-ACB2F7005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325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523E4-7263-434A-A3F3-CD1223ABE1E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D0177-D8B4-48DC-A2F6-C7DB3B5CB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34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D0177-D8B4-48DC-A2F6-C7DB3B5CB59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8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D0177-D8B4-48DC-A2F6-C7DB3B5CB59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46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D0177-D8B4-48DC-A2F6-C7DB3B5CB59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8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12CED-97F9-454F-86F8-93BA5220A947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31F4-C2D8-4F0A-AF57-24413FB1D06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7D5C9-B972-48BC-9F59-9DD8558D1347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4C2FD-8CD1-40D0-852C-486E2A2C4B84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9E696-4FF8-4A64-B321-40336375F80A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401B-9297-4D3B-BD00-2276A404714F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E516-E698-474F-B8C7-77F755E2C581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4ACC3-8658-41ED-98C8-E90F1E9FBE06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B945-F778-4E55-86A7-BF909F27BCB7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798D-14B9-4BB5-8EC5-5783A61AEC1F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F35E-89F0-4447-A880-FB84425F6AC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3981D-A8E6-4986-B791-E7E44EEB9822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18" Type="http://schemas.openxmlformats.org/officeDocument/2006/relationships/image" Target="../media/image38.svg"/><Relationship Id="rId3" Type="http://schemas.openxmlformats.org/officeDocument/2006/relationships/image" Target="../media/image10.jpe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17" Type="http://schemas.openxmlformats.org/officeDocument/2006/relationships/image" Target="../media/image37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Relationship Id="rId14" Type="http://schemas.openxmlformats.org/officeDocument/2006/relationships/image" Target="../media/image3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jpeg"/><Relationship Id="rId7" Type="http://schemas.openxmlformats.org/officeDocument/2006/relationships/image" Target="../media/image5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302355" y="5473700"/>
            <a:ext cx="15683290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28700" y="1028700"/>
            <a:ext cx="2545443" cy="593726"/>
          </a:xfrm>
          <a:custGeom>
            <a:avLst/>
            <a:gdLst/>
            <a:ahLst/>
            <a:cxnLst/>
            <a:rect l="l" t="t" r="r" b="b"/>
            <a:pathLst>
              <a:path w="2545443" h="593726">
                <a:moveTo>
                  <a:pt x="0" y="0"/>
                </a:moveTo>
                <a:lnTo>
                  <a:pt x="2545443" y="0"/>
                </a:lnTo>
                <a:lnTo>
                  <a:pt x="2545443" y="593726"/>
                </a:lnTo>
                <a:lnTo>
                  <a:pt x="0" y="593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55744" y="1028700"/>
            <a:ext cx="1003556" cy="991465"/>
          </a:xfrm>
          <a:custGeom>
            <a:avLst/>
            <a:gdLst/>
            <a:ahLst/>
            <a:cxnLst/>
            <a:rect l="l" t="t" r="r" b="b"/>
            <a:pathLst>
              <a:path w="1003556" h="991465">
                <a:moveTo>
                  <a:pt x="0" y="0"/>
                </a:moveTo>
                <a:lnTo>
                  <a:pt x="1003556" y="0"/>
                </a:lnTo>
                <a:lnTo>
                  <a:pt x="1003556" y="991465"/>
                </a:lnTo>
                <a:lnTo>
                  <a:pt x="0" y="99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02355" y="3870326"/>
            <a:ext cx="4719157" cy="95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MedInsight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2355" y="4879975"/>
            <a:ext cx="1094298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3499">
                <a:solidFill>
                  <a:srgbClr val="3030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Stroke Risk Screening and Explainable Prediction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2355" y="7261513"/>
            <a:ext cx="4429525" cy="1136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521" b="1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  <a:p>
            <a:pPr algn="l">
              <a:lnSpc>
                <a:spcPts val="2935"/>
              </a:lnSpc>
            </a:pPr>
            <a:r>
              <a:rPr lang="en-US" sz="2406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Priyodarshini  Banerjee</a:t>
            </a:r>
          </a:p>
          <a:p>
            <a:pPr algn="l">
              <a:lnSpc>
                <a:spcPts val="2935"/>
              </a:lnSpc>
            </a:pPr>
            <a:r>
              <a:rPr lang="en-US" sz="2406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BCA - 5th Semester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2354" y="8632934"/>
            <a:ext cx="3041045" cy="1027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0"/>
              </a:lnSpc>
            </a:pPr>
            <a:r>
              <a:rPr lang="en-US" sz="2328" dirty="0">
                <a:solidFill>
                  <a:srgbClr val="043C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328" b="1" dirty="0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nder the Guidance of</a:t>
            </a:r>
          </a:p>
          <a:p>
            <a:pPr algn="l">
              <a:lnSpc>
                <a:spcPts val="2811"/>
              </a:lnSpc>
            </a:pPr>
            <a:r>
              <a:rPr lang="en-US" sz="2304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 Anarul</a:t>
            </a:r>
          </a:p>
          <a:p>
            <a:pPr algn="l">
              <a:lnSpc>
                <a:spcPts val="2406"/>
              </a:lnSpc>
              <a:spcBef>
                <a:spcPct val="0"/>
              </a:spcBef>
            </a:pPr>
            <a:r>
              <a:rPr lang="en-US" sz="1972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Ardent </a:t>
            </a:r>
            <a:r>
              <a:rPr lang="en-US" sz="1972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Computech</a:t>
            </a:r>
            <a:r>
              <a:rPr lang="en-US" sz="1972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Pvt. Ltd.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0AFDC8-7099-9865-A5B2-179A687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824447" y="0"/>
            <a:ext cx="10463553" cy="10287000"/>
            <a:chOff x="0" y="0"/>
            <a:chExt cx="1621078" cy="16373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1078" cy="1637366"/>
            </a:xfrm>
            <a:custGeom>
              <a:avLst/>
              <a:gdLst/>
              <a:ahLst/>
              <a:cxnLst/>
              <a:rect l="l" t="t" r="r" b="b"/>
              <a:pathLst>
                <a:path w="1621078" h="1637366">
                  <a:moveTo>
                    <a:pt x="11838" y="0"/>
                  </a:moveTo>
                  <a:lnTo>
                    <a:pt x="1609240" y="0"/>
                  </a:lnTo>
                  <a:cubicBezTo>
                    <a:pt x="1612380" y="0"/>
                    <a:pt x="1615391" y="1247"/>
                    <a:pt x="1617611" y="3467"/>
                  </a:cubicBezTo>
                  <a:cubicBezTo>
                    <a:pt x="1619831" y="5687"/>
                    <a:pt x="1621078" y="8699"/>
                    <a:pt x="1621078" y="11838"/>
                  </a:cubicBezTo>
                  <a:lnTo>
                    <a:pt x="1621078" y="1625528"/>
                  </a:lnTo>
                  <a:cubicBezTo>
                    <a:pt x="1621078" y="1632066"/>
                    <a:pt x="1615778" y="1637366"/>
                    <a:pt x="1609240" y="1637366"/>
                  </a:cubicBezTo>
                  <a:lnTo>
                    <a:pt x="11838" y="1637366"/>
                  </a:lnTo>
                  <a:cubicBezTo>
                    <a:pt x="5300" y="1637366"/>
                    <a:pt x="0" y="1632066"/>
                    <a:pt x="0" y="1625528"/>
                  </a:cubicBezTo>
                  <a:lnTo>
                    <a:pt x="0" y="11838"/>
                  </a:lnTo>
                  <a:cubicBezTo>
                    <a:pt x="0" y="5300"/>
                    <a:pt x="5300" y="0"/>
                    <a:pt x="11838" y="0"/>
                  </a:cubicBezTo>
                  <a:close/>
                </a:path>
              </a:pathLst>
            </a:custGeom>
            <a:blipFill>
              <a:blip r:embed="rId3">
                <a:alphaModFix amt="96000"/>
              </a:blip>
              <a:stretch>
                <a:fillRect l="-17336" r="-1733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47013" y="1459017"/>
            <a:ext cx="10127121" cy="8201093"/>
            <a:chOff x="0" y="0"/>
            <a:chExt cx="1043647" cy="8451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3647" cy="845161"/>
            </a:xfrm>
            <a:custGeom>
              <a:avLst/>
              <a:gdLst/>
              <a:ahLst/>
              <a:cxnLst/>
              <a:rect l="l" t="t" r="r" b="b"/>
              <a:pathLst>
                <a:path w="1043647" h="845161">
                  <a:moveTo>
                    <a:pt x="15528" y="0"/>
                  </a:moveTo>
                  <a:lnTo>
                    <a:pt x="1028119" y="0"/>
                  </a:lnTo>
                  <a:cubicBezTo>
                    <a:pt x="1036695" y="0"/>
                    <a:pt x="1043647" y="6952"/>
                    <a:pt x="1043647" y="15528"/>
                  </a:cubicBezTo>
                  <a:lnTo>
                    <a:pt x="1043647" y="829633"/>
                  </a:lnTo>
                  <a:cubicBezTo>
                    <a:pt x="1043647" y="838209"/>
                    <a:pt x="1036695" y="845161"/>
                    <a:pt x="1028119" y="845161"/>
                  </a:cubicBezTo>
                  <a:lnTo>
                    <a:pt x="15528" y="845161"/>
                  </a:lnTo>
                  <a:cubicBezTo>
                    <a:pt x="6952" y="845161"/>
                    <a:pt x="0" y="838209"/>
                    <a:pt x="0" y="829633"/>
                  </a:cubicBezTo>
                  <a:lnTo>
                    <a:pt x="0" y="15528"/>
                  </a:lnTo>
                  <a:cubicBezTo>
                    <a:pt x="0" y="6952"/>
                    <a:pt x="6952" y="0"/>
                    <a:pt x="1552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43647" cy="88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2050180" y="3053778"/>
            <a:ext cx="5681666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209393" y="3708578"/>
            <a:ext cx="954442" cy="954442"/>
          </a:xfrm>
          <a:custGeom>
            <a:avLst/>
            <a:gdLst/>
            <a:ahLst/>
            <a:cxnLst/>
            <a:rect l="l" t="t" r="r" b="b"/>
            <a:pathLst>
              <a:path w="954442" h="954442">
                <a:moveTo>
                  <a:pt x="0" y="0"/>
                </a:moveTo>
                <a:lnTo>
                  <a:pt x="954442" y="0"/>
                </a:lnTo>
                <a:lnTo>
                  <a:pt x="954442" y="954442"/>
                </a:lnTo>
                <a:lnTo>
                  <a:pt x="0" y="95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01519" y="3841139"/>
            <a:ext cx="770191" cy="689321"/>
          </a:xfrm>
          <a:custGeom>
            <a:avLst/>
            <a:gdLst/>
            <a:ahLst/>
            <a:cxnLst/>
            <a:rect l="l" t="t" r="r" b="b"/>
            <a:pathLst>
              <a:path w="770191" h="689321">
                <a:moveTo>
                  <a:pt x="0" y="0"/>
                </a:moveTo>
                <a:lnTo>
                  <a:pt x="770191" y="0"/>
                </a:lnTo>
                <a:lnTo>
                  <a:pt x="770191" y="689321"/>
                </a:lnTo>
                <a:lnTo>
                  <a:pt x="0" y="689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50180" y="2088330"/>
            <a:ext cx="4882732" cy="94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84"/>
              </a:lnSpc>
              <a:spcBef>
                <a:spcPct val="0"/>
              </a:spcBef>
            </a:pPr>
            <a:r>
              <a:rPr lang="en-US" sz="6884" b="1" u="none" strike="noStrike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12094" y="3718103"/>
            <a:ext cx="195890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Stroke Risk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24543" y="4361249"/>
            <a:ext cx="5967499" cy="77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  <a:spcBef>
                <a:spcPct val="0"/>
              </a:spcBef>
            </a:pPr>
            <a:r>
              <a:rPr lang="en-US" sz="2506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Stroke is a serious health condition influenced by demographic, medical and lifestyle factors.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12094" y="5488613"/>
            <a:ext cx="3082586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45273" y="6147743"/>
            <a:ext cx="5598727" cy="77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  <a:spcBef>
                <a:spcPct val="0"/>
              </a:spcBef>
            </a:pPr>
            <a:r>
              <a:rPr lang="en-US" sz="2506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can identify patterns in patient data to support stroke-risk prediction.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4543" y="7275107"/>
            <a:ext cx="204645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MedInsight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2094" y="7906170"/>
            <a:ext cx="6433631" cy="115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  <a:spcBef>
                <a:spcPct val="0"/>
              </a:spcBef>
            </a:pPr>
            <a:r>
              <a:rPr lang="en-US" sz="2506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explainable ML based system providing risk prediction, probability estimation and SHAP based insights.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2209393" y="5518729"/>
            <a:ext cx="954442" cy="954442"/>
          </a:xfrm>
          <a:custGeom>
            <a:avLst/>
            <a:gdLst/>
            <a:ahLst/>
            <a:cxnLst/>
            <a:rect l="l" t="t" r="r" b="b"/>
            <a:pathLst>
              <a:path w="954442" h="954442">
                <a:moveTo>
                  <a:pt x="0" y="0"/>
                </a:moveTo>
                <a:lnTo>
                  <a:pt x="954442" y="0"/>
                </a:lnTo>
                <a:lnTo>
                  <a:pt x="954442" y="954442"/>
                </a:lnTo>
                <a:lnTo>
                  <a:pt x="0" y="95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355986" y="5666092"/>
            <a:ext cx="661257" cy="661257"/>
          </a:xfrm>
          <a:custGeom>
            <a:avLst/>
            <a:gdLst/>
            <a:ahLst/>
            <a:cxnLst/>
            <a:rect l="l" t="t" r="r" b="b"/>
            <a:pathLst>
              <a:path w="661257" h="661257">
                <a:moveTo>
                  <a:pt x="0" y="0"/>
                </a:moveTo>
                <a:lnTo>
                  <a:pt x="661257" y="0"/>
                </a:lnTo>
                <a:lnTo>
                  <a:pt x="661257" y="661257"/>
                </a:lnTo>
                <a:lnTo>
                  <a:pt x="0" y="661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209393" y="7330421"/>
            <a:ext cx="954442" cy="954442"/>
          </a:xfrm>
          <a:custGeom>
            <a:avLst/>
            <a:gdLst/>
            <a:ahLst/>
            <a:cxnLst/>
            <a:rect l="l" t="t" r="r" b="b"/>
            <a:pathLst>
              <a:path w="954442" h="954442">
                <a:moveTo>
                  <a:pt x="0" y="0"/>
                </a:moveTo>
                <a:lnTo>
                  <a:pt x="954442" y="0"/>
                </a:lnTo>
                <a:lnTo>
                  <a:pt x="954442" y="954442"/>
                </a:lnTo>
                <a:lnTo>
                  <a:pt x="0" y="95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456100" y="7524803"/>
            <a:ext cx="461028" cy="565678"/>
          </a:xfrm>
          <a:custGeom>
            <a:avLst/>
            <a:gdLst/>
            <a:ahLst/>
            <a:cxnLst/>
            <a:rect l="l" t="t" r="r" b="b"/>
            <a:pathLst>
              <a:path w="461028" h="565678">
                <a:moveTo>
                  <a:pt x="0" y="0"/>
                </a:moveTo>
                <a:lnTo>
                  <a:pt x="461028" y="0"/>
                </a:lnTo>
                <a:lnTo>
                  <a:pt x="461028" y="565678"/>
                </a:lnTo>
                <a:lnTo>
                  <a:pt x="0" y="565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251374D-5BF4-CC26-1A97-210F38B3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400687" y="0"/>
            <a:ext cx="11887314" cy="10287000"/>
            <a:chOff x="0" y="0"/>
            <a:chExt cx="1354615" cy="1239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4615" cy="1239865"/>
            </a:xfrm>
            <a:custGeom>
              <a:avLst/>
              <a:gdLst/>
              <a:ahLst/>
              <a:cxnLst/>
              <a:rect l="l" t="t" r="r" b="b"/>
              <a:pathLst>
                <a:path w="1354615" h="1239865">
                  <a:moveTo>
                    <a:pt x="0" y="0"/>
                  </a:moveTo>
                  <a:lnTo>
                    <a:pt x="1354615" y="0"/>
                  </a:lnTo>
                  <a:lnTo>
                    <a:pt x="1354615" y="1239865"/>
                  </a:lnTo>
                  <a:lnTo>
                    <a:pt x="0" y="12398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54615" cy="127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6982442" y="1028700"/>
            <a:ext cx="994102" cy="994102"/>
          </a:xfrm>
          <a:custGeom>
            <a:avLst/>
            <a:gdLst/>
            <a:ahLst/>
            <a:cxnLst/>
            <a:rect l="l" t="t" r="r" b="b"/>
            <a:pathLst>
              <a:path w="994102" h="994102">
                <a:moveTo>
                  <a:pt x="0" y="0"/>
                </a:moveTo>
                <a:lnTo>
                  <a:pt x="994102" y="0"/>
                </a:lnTo>
                <a:lnTo>
                  <a:pt x="994102" y="994102"/>
                </a:lnTo>
                <a:lnTo>
                  <a:pt x="0" y="994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67344" y="1368906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</a:t>
            </a:r>
            <a:r>
              <a:rPr lang="en-US" sz="2599" b="1" u="none" strike="noStrike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15660" y="1651481"/>
            <a:ext cx="763110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Stroke datasets contain far fewer stroke cases than non-stroke cases, making minority class prediction challenging.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8080" y="4233055"/>
            <a:ext cx="6062578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500"/>
              </a:lnSpc>
              <a:spcBef>
                <a:spcPct val="0"/>
              </a:spcBef>
            </a:pPr>
            <a:r>
              <a:rPr lang="en-US" sz="7500" b="1" u="none" strike="noStrike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208080" y="6315855"/>
            <a:ext cx="4270852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315660" y="1028700"/>
            <a:ext cx="759264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 Imbalance</a:t>
            </a:r>
          </a:p>
        </p:txBody>
      </p:sp>
      <p:sp>
        <p:nvSpPr>
          <p:cNvPr id="12" name="Freeform 12"/>
          <p:cNvSpPr/>
          <p:nvPr/>
        </p:nvSpPr>
        <p:spPr>
          <a:xfrm rot="5400000">
            <a:off x="6982442" y="2984703"/>
            <a:ext cx="994102" cy="994102"/>
          </a:xfrm>
          <a:custGeom>
            <a:avLst/>
            <a:gdLst/>
            <a:ahLst/>
            <a:cxnLst/>
            <a:rect l="l" t="t" r="r" b="b"/>
            <a:pathLst>
              <a:path w="994102" h="994102">
                <a:moveTo>
                  <a:pt x="0" y="0"/>
                </a:moveTo>
                <a:lnTo>
                  <a:pt x="994102" y="0"/>
                </a:lnTo>
                <a:lnTo>
                  <a:pt x="994102" y="994102"/>
                </a:lnTo>
                <a:lnTo>
                  <a:pt x="0" y="994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982442" y="3324909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15660" y="2984703"/>
            <a:ext cx="759264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Missed Stroke Cases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15660" y="3714799"/>
            <a:ext cx="7592648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 alone may hide poor detection of actual stroke cases especially false negatives.</a:t>
            </a:r>
          </a:p>
        </p:txBody>
      </p:sp>
      <p:sp>
        <p:nvSpPr>
          <p:cNvPr id="16" name="Freeform 16"/>
          <p:cNvSpPr/>
          <p:nvPr/>
        </p:nvSpPr>
        <p:spPr>
          <a:xfrm rot="5400000">
            <a:off x="6997539" y="4963960"/>
            <a:ext cx="994102" cy="994102"/>
          </a:xfrm>
          <a:custGeom>
            <a:avLst/>
            <a:gdLst/>
            <a:ahLst/>
            <a:cxnLst/>
            <a:rect l="l" t="t" r="r" b="b"/>
            <a:pathLst>
              <a:path w="994102" h="994102">
                <a:moveTo>
                  <a:pt x="0" y="0"/>
                </a:moveTo>
                <a:lnTo>
                  <a:pt x="994102" y="0"/>
                </a:lnTo>
                <a:lnTo>
                  <a:pt x="994102" y="994102"/>
                </a:lnTo>
                <a:lnTo>
                  <a:pt x="0" y="994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997539" y="5304166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54117" y="4963960"/>
            <a:ext cx="759264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Limited Interpretability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54117" y="5697385"/>
            <a:ext cx="7592648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results may not clearly show which patient features influenced the model's decision.</a:t>
            </a:r>
          </a:p>
        </p:txBody>
      </p:sp>
      <p:sp>
        <p:nvSpPr>
          <p:cNvPr id="20" name="Freeform 20"/>
          <p:cNvSpPr/>
          <p:nvPr/>
        </p:nvSpPr>
        <p:spPr>
          <a:xfrm rot="5400000">
            <a:off x="7012637" y="7133100"/>
            <a:ext cx="994102" cy="994102"/>
          </a:xfrm>
          <a:custGeom>
            <a:avLst/>
            <a:gdLst/>
            <a:ahLst/>
            <a:cxnLst/>
            <a:rect l="l" t="t" r="r" b="b"/>
            <a:pathLst>
              <a:path w="994102" h="994102">
                <a:moveTo>
                  <a:pt x="0" y="0"/>
                </a:moveTo>
                <a:lnTo>
                  <a:pt x="994102" y="0"/>
                </a:lnTo>
                <a:lnTo>
                  <a:pt x="994102" y="994102"/>
                </a:lnTo>
                <a:lnTo>
                  <a:pt x="0" y="994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012637" y="7473306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54117" y="7133100"/>
            <a:ext cx="759264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54117" y="7866525"/>
            <a:ext cx="7592648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approaches may focus on prediction performance but provide limited minority class detection and interpretability. </a:t>
            </a: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MedInsight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class imbalance handling, risk prediction and SHAP based explanation.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ADB10A9-DC72-7AB7-EC7B-F0E3AFC8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1087" y="3333353"/>
            <a:ext cx="673715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-60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 MedInsight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1087" y="7451309"/>
            <a:ext cx="673715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-60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Compare &amp; Select Models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01087" y="5326059"/>
            <a:ext cx="673715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-60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 &amp; Analyse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93535" y="3433620"/>
            <a:ext cx="6737158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 spc="-59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 Explainability</a:t>
            </a:r>
          </a:p>
        </p:txBody>
      </p:sp>
      <p:sp>
        <p:nvSpPr>
          <p:cNvPr id="6" name="AutoShape 6"/>
          <p:cNvSpPr/>
          <p:nvPr/>
        </p:nvSpPr>
        <p:spPr>
          <a:xfrm>
            <a:off x="1723550" y="7093760"/>
            <a:ext cx="699446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23550" y="9182100"/>
            <a:ext cx="699446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23550" y="5133975"/>
            <a:ext cx="699446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0" y="0"/>
            <a:ext cx="18288000" cy="3128820"/>
          </a:xfrm>
          <a:custGeom>
            <a:avLst/>
            <a:gdLst/>
            <a:ahLst/>
            <a:cxnLst/>
            <a:rect l="l" t="t" r="r" b="b"/>
            <a:pathLst>
              <a:path w="18288000" h="4703908">
                <a:moveTo>
                  <a:pt x="0" y="0"/>
                </a:moveTo>
                <a:lnTo>
                  <a:pt x="18288000" y="0"/>
                </a:lnTo>
                <a:lnTo>
                  <a:pt x="18288000" y="4703908"/>
                </a:lnTo>
                <a:lnTo>
                  <a:pt x="0" y="4703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21" t="-465687" b="-35001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692661" y="1402955"/>
            <a:ext cx="6062578" cy="108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99"/>
              </a:lnSpc>
              <a:spcBef>
                <a:spcPct val="0"/>
              </a:spcBef>
            </a:pPr>
            <a:r>
              <a:rPr lang="en-US" sz="7999" u="none" strike="noStrike">
                <a:solidFill>
                  <a:srgbClr val="1C3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999" b="1" u="none" strike="noStrike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67819" y="2561828"/>
            <a:ext cx="5130430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901087" y="4143375"/>
            <a:ext cx="6994465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ML based system for stroke-risk screening using patient demographic, medical and lifestyle data.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01087" y="6087285"/>
            <a:ext cx="7086252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data preprocessing and exploratory analysis to identify patterns and prepare the dataset for modelling.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93535" y="4376595"/>
            <a:ext cx="6560700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SHAP based Explainable AI to identify factors influencing model predictions.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1087" y="8279984"/>
            <a:ext cx="7086252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class imbalance, compare classification models using multiple metrics and select the final model.</a:t>
            </a:r>
          </a:p>
        </p:txBody>
      </p:sp>
      <p:sp>
        <p:nvSpPr>
          <p:cNvPr id="16" name="Freeform 16"/>
          <p:cNvSpPr/>
          <p:nvPr/>
        </p:nvSpPr>
        <p:spPr>
          <a:xfrm rot="5400000">
            <a:off x="583279" y="5504418"/>
            <a:ext cx="890842" cy="890842"/>
          </a:xfrm>
          <a:custGeom>
            <a:avLst/>
            <a:gdLst/>
            <a:ahLst/>
            <a:cxnLst/>
            <a:rect l="l" t="t" r="r" b="b"/>
            <a:pathLst>
              <a:path w="890842" h="890842">
                <a:moveTo>
                  <a:pt x="0" y="0"/>
                </a:moveTo>
                <a:lnTo>
                  <a:pt x="890842" y="0"/>
                </a:lnTo>
                <a:lnTo>
                  <a:pt x="890842" y="890842"/>
                </a:lnTo>
                <a:lnTo>
                  <a:pt x="0" y="890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583279" y="3419078"/>
            <a:ext cx="890842" cy="890842"/>
          </a:xfrm>
          <a:custGeom>
            <a:avLst/>
            <a:gdLst/>
            <a:ahLst/>
            <a:cxnLst/>
            <a:rect l="l" t="t" r="r" b="b"/>
            <a:pathLst>
              <a:path w="890842" h="890842">
                <a:moveTo>
                  <a:pt x="0" y="0"/>
                </a:moveTo>
                <a:lnTo>
                  <a:pt x="890842" y="0"/>
                </a:lnTo>
                <a:lnTo>
                  <a:pt x="890842" y="890842"/>
                </a:lnTo>
                <a:lnTo>
                  <a:pt x="0" y="890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24100" y="3707654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</a:t>
            </a:r>
            <a:r>
              <a:rPr lang="en-US" sz="2599" b="1" u="none" strike="noStrike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4100" y="5792994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20" name="Freeform 20"/>
          <p:cNvSpPr/>
          <p:nvPr/>
        </p:nvSpPr>
        <p:spPr>
          <a:xfrm rot="5400000">
            <a:off x="9998010" y="3419078"/>
            <a:ext cx="890842" cy="890842"/>
          </a:xfrm>
          <a:custGeom>
            <a:avLst/>
            <a:gdLst/>
            <a:ahLst/>
            <a:cxnLst/>
            <a:rect l="l" t="t" r="r" b="b"/>
            <a:pathLst>
              <a:path w="890842" h="890842">
                <a:moveTo>
                  <a:pt x="0" y="0"/>
                </a:moveTo>
                <a:lnTo>
                  <a:pt x="890842" y="0"/>
                </a:lnTo>
                <a:lnTo>
                  <a:pt x="890842" y="890842"/>
                </a:lnTo>
                <a:lnTo>
                  <a:pt x="0" y="890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21" name="Freeform 21"/>
          <p:cNvSpPr/>
          <p:nvPr/>
        </p:nvSpPr>
        <p:spPr>
          <a:xfrm rot="5400000">
            <a:off x="583279" y="7537034"/>
            <a:ext cx="890842" cy="890842"/>
          </a:xfrm>
          <a:custGeom>
            <a:avLst/>
            <a:gdLst/>
            <a:ahLst/>
            <a:cxnLst/>
            <a:rect l="l" t="t" r="r" b="b"/>
            <a:pathLst>
              <a:path w="890842" h="890842">
                <a:moveTo>
                  <a:pt x="0" y="0"/>
                </a:moveTo>
                <a:lnTo>
                  <a:pt x="890842" y="0"/>
                </a:lnTo>
                <a:lnTo>
                  <a:pt x="890842" y="890841"/>
                </a:lnTo>
                <a:lnTo>
                  <a:pt x="0" y="890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24100" y="7803734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38831" y="3719433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1239838" y="5630859"/>
            <a:ext cx="6614397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1498324" y="6319060"/>
            <a:ext cx="6737158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 spc="-59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 for Screening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98324" y="7300496"/>
            <a:ext cx="635591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interactive Streamlit application for prediction, analytics and personalised guidance as a screening and decision support tool.</a:t>
            </a:r>
          </a:p>
        </p:txBody>
      </p:sp>
      <p:sp>
        <p:nvSpPr>
          <p:cNvPr id="27" name="Freeform 27"/>
          <p:cNvSpPr/>
          <p:nvPr/>
        </p:nvSpPr>
        <p:spPr>
          <a:xfrm rot="5400000">
            <a:off x="9998010" y="6395260"/>
            <a:ext cx="890842" cy="890842"/>
          </a:xfrm>
          <a:custGeom>
            <a:avLst/>
            <a:gdLst/>
            <a:ahLst/>
            <a:cxnLst/>
            <a:rect l="l" t="t" r="r" b="b"/>
            <a:pathLst>
              <a:path w="890842" h="890842">
                <a:moveTo>
                  <a:pt x="0" y="0"/>
                </a:moveTo>
                <a:lnTo>
                  <a:pt x="890842" y="0"/>
                </a:lnTo>
                <a:lnTo>
                  <a:pt x="890842" y="890842"/>
                </a:lnTo>
                <a:lnTo>
                  <a:pt x="0" y="890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9998010" y="6683836"/>
            <a:ext cx="10091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1239838" y="8726041"/>
            <a:ext cx="6614397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flipV="1">
            <a:off x="9448800" y="3318487"/>
            <a:ext cx="0" cy="6153546"/>
          </a:xfrm>
          <a:prstGeom prst="line">
            <a:avLst/>
          </a:prstGeom>
          <a:ln w="28575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84927991-483A-057C-44F7-21E5725D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989332"/>
            <a:ext cx="11908024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5706529" y="552870"/>
            <a:ext cx="1688804" cy="1642336"/>
          </a:xfrm>
          <a:custGeom>
            <a:avLst/>
            <a:gdLst/>
            <a:ahLst/>
            <a:cxnLst/>
            <a:rect l="l" t="t" r="r" b="b"/>
            <a:pathLst>
              <a:path w="1688804" h="1642336">
                <a:moveTo>
                  <a:pt x="0" y="0"/>
                </a:moveTo>
                <a:lnTo>
                  <a:pt x="1688804" y="0"/>
                </a:lnTo>
                <a:lnTo>
                  <a:pt x="1688804" y="1642335"/>
                </a:lnTo>
                <a:lnTo>
                  <a:pt x="0" y="164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11642" y="3373608"/>
            <a:ext cx="678838" cy="627925"/>
          </a:xfrm>
          <a:custGeom>
            <a:avLst/>
            <a:gdLst/>
            <a:ahLst/>
            <a:cxnLst/>
            <a:rect l="l" t="t" r="r" b="b"/>
            <a:pathLst>
              <a:path w="678838" h="627925">
                <a:moveTo>
                  <a:pt x="0" y="0"/>
                </a:moveTo>
                <a:lnTo>
                  <a:pt x="678837" y="0"/>
                </a:lnTo>
                <a:lnTo>
                  <a:pt x="678837" y="627924"/>
                </a:lnTo>
                <a:lnTo>
                  <a:pt x="0" y="6279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28604" y="3266996"/>
            <a:ext cx="577198" cy="901873"/>
          </a:xfrm>
          <a:custGeom>
            <a:avLst/>
            <a:gdLst/>
            <a:ahLst/>
            <a:cxnLst/>
            <a:rect l="l" t="t" r="r" b="b"/>
            <a:pathLst>
              <a:path w="577198" h="901873">
                <a:moveTo>
                  <a:pt x="0" y="0"/>
                </a:moveTo>
                <a:lnTo>
                  <a:pt x="577199" y="0"/>
                </a:lnTo>
                <a:lnTo>
                  <a:pt x="577199" y="901873"/>
                </a:lnTo>
                <a:lnTo>
                  <a:pt x="0" y="901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2232469" y="4378419"/>
            <a:ext cx="222697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6414783" y="2456572"/>
            <a:ext cx="4476206" cy="3668852"/>
          </a:xfrm>
          <a:custGeom>
            <a:avLst/>
            <a:gdLst/>
            <a:ahLst/>
            <a:cxnLst/>
            <a:rect l="l" t="t" r="r" b="b"/>
            <a:pathLst>
              <a:path w="4476206" h="3668852">
                <a:moveTo>
                  <a:pt x="0" y="0"/>
                </a:moveTo>
                <a:lnTo>
                  <a:pt x="4476206" y="0"/>
                </a:lnTo>
                <a:lnTo>
                  <a:pt x="4476206" y="3668851"/>
                </a:lnTo>
                <a:lnTo>
                  <a:pt x="0" y="3668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936" t="-13385" r="-52734"/>
            </a:stretch>
          </a:blipFill>
          <a:ln w="38100" cap="rnd">
            <a:solidFill>
              <a:srgbClr val="02084B"/>
            </a:solidFill>
            <a:prstDash val="solid"/>
            <a:round/>
          </a:ln>
        </p:spPr>
      </p:sp>
      <p:sp>
        <p:nvSpPr>
          <p:cNvPr id="9" name="Freeform 9"/>
          <p:cNvSpPr/>
          <p:nvPr/>
        </p:nvSpPr>
        <p:spPr>
          <a:xfrm>
            <a:off x="6570598" y="2558666"/>
            <a:ext cx="624591" cy="624591"/>
          </a:xfrm>
          <a:custGeom>
            <a:avLst/>
            <a:gdLst/>
            <a:ahLst/>
            <a:cxnLst/>
            <a:rect l="l" t="t" r="r" b="b"/>
            <a:pathLst>
              <a:path w="624591" h="624591">
                <a:moveTo>
                  <a:pt x="0" y="0"/>
                </a:moveTo>
                <a:lnTo>
                  <a:pt x="624590" y="0"/>
                </a:lnTo>
                <a:lnTo>
                  <a:pt x="624590" y="624590"/>
                </a:lnTo>
                <a:lnTo>
                  <a:pt x="0" y="624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19739" y="3345398"/>
            <a:ext cx="805659" cy="805659"/>
          </a:xfrm>
          <a:custGeom>
            <a:avLst/>
            <a:gdLst/>
            <a:ahLst/>
            <a:cxnLst/>
            <a:rect l="l" t="t" r="r" b="b"/>
            <a:pathLst>
              <a:path w="805659" h="805659">
                <a:moveTo>
                  <a:pt x="0" y="0"/>
                </a:moveTo>
                <a:lnTo>
                  <a:pt x="805659" y="0"/>
                </a:lnTo>
                <a:lnTo>
                  <a:pt x="805659" y="805659"/>
                </a:lnTo>
                <a:lnTo>
                  <a:pt x="0" y="8056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7671225" y="4293072"/>
            <a:ext cx="222697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2272114" y="2514937"/>
            <a:ext cx="4805808" cy="3668852"/>
          </a:xfrm>
          <a:custGeom>
            <a:avLst/>
            <a:gdLst/>
            <a:ahLst/>
            <a:cxnLst/>
            <a:rect l="l" t="t" r="r" b="b"/>
            <a:pathLst>
              <a:path w="4805808" h="3668852">
                <a:moveTo>
                  <a:pt x="0" y="0"/>
                </a:moveTo>
                <a:lnTo>
                  <a:pt x="4805808" y="0"/>
                </a:lnTo>
                <a:lnTo>
                  <a:pt x="4805808" y="3668851"/>
                </a:lnTo>
                <a:lnTo>
                  <a:pt x="0" y="3668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865" t="-13385" r="-42259"/>
            </a:stretch>
          </a:blipFill>
          <a:ln w="38100" cap="rnd">
            <a:solidFill>
              <a:srgbClr val="02084B"/>
            </a:solidFill>
            <a:prstDash val="solid"/>
            <a:round/>
          </a:ln>
        </p:spPr>
      </p:sp>
      <p:sp>
        <p:nvSpPr>
          <p:cNvPr id="13" name="Freeform 13"/>
          <p:cNvSpPr/>
          <p:nvPr/>
        </p:nvSpPr>
        <p:spPr>
          <a:xfrm>
            <a:off x="12486357" y="2672993"/>
            <a:ext cx="608749" cy="608749"/>
          </a:xfrm>
          <a:custGeom>
            <a:avLst/>
            <a:gdLst/>
            <a:ahLst/>
            <a:cxnLst/>
            <a:rect l="l" t="t" r="r" b="b"/>
            <a:pathLst>
              <a:path w="608749" h="608749">
                <a:moveTo>
                  <a:pt x="0" y="0"/>
                </a:moveTo>
                <a:lnTo>
                  <a:pt x="608749" y="0"/>
                </a:lnTo>
                <a:lnTo>
                  <a:pt x="608749" y="608749"/>
                </a:lnTo>
                <a:lnTo>
                  <a:pt x="0" y="608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13810" y="3373608"/>
            <a:ext cx="971812" cy="777450"/>
          </a:xfrm>
          <a:custGeom>
            <a:avLst/>
            <a:gdLst/>
            <a:ahLst/>
            <a:cxnLst/>
            <a:rect l="l" t="t" r="r" b="b"/>
            <a:pathLst>
              <a:path w="971812" h="777450">
                <a:moveTo>
                  <a:pt x="0" y="0"/>
                </a:moveTo>
                <a:lnTo>
                  <a:pt x="971812" y="0"/>
                </a:lnTo>
                <a:lnTo>
                  <a:pt x="971812" y="777449"/>
                </a:lnTo>
                <a:lnTo>
                  <a:pt x="0" y="777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13686228" y="4368894"/>
            <a:ext cx="222697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1386277" y="2558666"/>
            <a:ext cx="624591" cy="624591"/>
          </a:xfrm>
          <a:custGeom>
            <a:avLst/>
            <a:gdLst/>
            <a:ahLst/>
            <a:cxnLst/>
            <a:rect l="l" t="t" r="r" b="b"/>
            <a:pathLst>
              <a:path w="624591" h="624591">
                <a:moveTo>
                  <a:pt x="0" y="0"/>
                </a:moveTo>
                <a:lnTo>
                  <a:pt x="624591" y="0"/>
                </a:lnTo>
                <a:lnTo>
                  <a:pt x="624591" y="624590"/>
                </a:lnTo>
                <a:lnTo>
                  <a:pt x="0" y="624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349807" y="6458798"/>
            <a:ext cx="5538982" cy="3463863"/>
          </a:xfrm>
          <a:custGeom>
            <a:avLst/>
            <a:gdLst/>
            <a:ahLst/>
            <a:cxnLst/>
            <a:rect l="l" t="t" r="r" b="b"/>
            <a:pathLst>
              <a:path w="5538982" h="3463863">
                <a:moveTo>
                  <a:pt x="0" y="0"/>
                </a:moveTo>
                <a:lnTo>
                  <a:pt x="5538982" y="0"/>
                </a:lnTo>
                <a:lnTo>
                  <a:pt x="5538982" y="3463863"/>
                </a:lnTo>
                <a:lnTo>
                  <a:pt x="0" y="34638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548" t="-17477" r="-24629" b="-2618"/>
            </a:stretch>
          </a:blipFill>
          <a:ln w="38100" cap="rnd">
            <a:solidFill>
              <a:srgbClr val="02084B"/>
            </a:solidFill>
            <a:prstDash val="solid"/>
            <a:round/>
          </a:ln>
        </p:spPr>
      </p:sp>
      <p:sp>
        <p:nvSpPr>
          <p:cNvPr id="18" name="Freeform 18"/>
          <p:cNvSpPr/>
          <p:nvPr/>
        </p:nvSpPr>
        <p:spPr>
          <a:xfrm>
            <a:off x="2511642" y="6598283"/>
            <a:ext cx="624591" cy="624591"/>
          </a:xfrm>
          <a:custGeom>
            <a:avLst/>
            <a:gdLst/>
            <a:ahLst/>
            <a:cxnLst/>
            <a:rect l="l" t="t" r="r" b="b"/>
            <a:pathLst>
              <a:path w="624591" h="624591">
                <a:moveTo>
                  <a:pt x="0" y="0"/>
                </a:moveTo>
                <a:lnTo>
                  <a:pt x="624590" y="0"/>
                </a:lnTo>
                <a:lnTo>
                  <a:pt x="624590" y="624591"/>
                </a:lnTo>
                <a:lnTo>
                  <a:pt x="0" y="624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628187" y="7339426"/>
            <a:ext cx="653404" cy="670158"/>
          </a:xfrm>
          <a:custGeom>
            <a:avLst/>
            <a:gdLst/>
            <a:ahLst/>
            <a:cxnLst/>
            <a:rect l="l" t="t" r="r" b="b"/>
            <a:pathLst>
              <a:path w="653404" h="670158">
                <a:moveTo>
                  <a:pt x="0" y="0"/>
                </a:moveTo>
                <a:lnTo>
                  <a:pt x="653404" y="0"/>
                </a:lnTo>
                <a:lnTo>
                  <a:pt x="653404" y="670159"/>
                </a:lnTo>
                <a:lnTo>
                  <a:pt x="0" y="670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>
            <a:off x="4005810" y="8064482"/>
            <a:ext cx="222697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9223080" y="6469538"/>
            <a:ext cx="5385204" cy="3435288"/>
          </a:xfrm>
          <a:custGeom>
            <a:avLst/>
            <a:gdLst/>
            <a:ahLst/>
            <a:cxnLst/>
            <a:rect l="l" t="t" r="r" b="b"/>
            <a:pathLst>
              <a:path w="5385204" h="3435288">
                <a:moveTo>
                  <a:pt x="0" y="0"/>
                </a:moveTo>
                <a:lnTo>
                  <a:pt x="5385203" y="0"/>
                </a:lnTo>
                <a:lnTo>
                  <a:pt x="5385203" y="3435288"/>
                </a:lnTo>
                <a:lnTo>
                  <a:pt x="0" y="34352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220" t="-18454" r="-28188" b="-2639"/>
            </a:stretch>
          </a:blipFill>
          <a:ln w="38100" cap="rnd">
            <a:solidFill>
              <a:srgbClr val="02084B"/>
            </a:solidFill>
            <a:prstDash val="solid"/>
            <a:round/>
          </a:ln>
        </p:spPr>
      </p:sp>
      <p:sp>
        <p:nvSpPr>
          <p:cNvPr id="22" name="Freeform 22"/>
          <p:cNvSpPr/>
          <p:nvPr/>
        </p:nvSpPr>
        <p:spPr>
          <a:xfrm>
            <a:off x="9444001" y="6660762"/>
            <a:ext cx="624591" cy="624591"/>
          </a:xfrm>
          <a:custGeom>
            <a:avLst/>
            <a:gdLst/>
            <a:ahLst/>
            <a:cxnLst/>
            <a:rect l="l" t="t" r="r" b="b"/>
            <a:pathLst>
              <a:path w="624591" h="624591">
                <a:moveTo>
                  <a:pt x="0" y="0"/>
                </a:moveTo>
                <a:lnTo>
                  <a:pt x="624591" y="0"/>
                </a:lnTo>
                <a:lnTo>
                  <a:pt x="624591" y="624591"/>
                </a:lnTo>
                <a:lnTo>
                  <a:pt x="0" y="624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624740" y="7285353"/>
            <a:ext cx="830692" cy="693628"/>
          </a:xfrm>
          <a:custGeom>
            <a:avLst/>
            <a:gdLst/>
            <a:ahLst/>
            <a:cxnLst/>
            <a:rect l="l" t="t" r="r" b="b"/>
            <a:pathLst>
              <a:path w="830692" h="693628">
                <a:moveTo>
                  <a:pt x="0" y="0"/>
                </a:moveTo>
                <a:lnTo>
                  <a:pt x="830691" y="0"/>
                </a:lnTo>
                <a:lnTo>
                  <a:pt x="830691" y="693627"/>
                </a:lnTo>
                <a:lnTo>
                  <a:pt x="0" y="693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AutoShape 24"/>
          <p:cNvSpPr/>
          <p:nvPr/>
        </p:nvSpPr>
        <p:spPr>
          <a:xfrm>
            <a:off x="10728896" y="8171679"/>
            <a:ext cx="2226975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210078" y="2456572"/>
            <a:ext cx="4126454" cy="3546949"/>
          </a:xfrm>
          <a:custGeom>
            <a:avLst/>
            <a:gdLst/>
            <a:ahLst/>
            <a:cxnLst/>
            <a:rect l="l" t="t" r="r" b="b"/>
            <a:pathLst>
              <a:path w="4126454" h="3546949">
                <a:moveTo>
                  <a:pt x="0" y="0"/>
                </a:moveTo>
                <a:lnTo>
                  <a:pt x="4126454" y="0"/>
                </a:lnTo>
                <a:lnTo>
                  <a:pt x="4126454" y="3546949"/>
                </a:lnTo>
                <a:lnTo>
                  <a:pt x="0" y="3546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0202" t="-17282" r="-65679"/>
            </a:stretch>
          </a:blipFill>
          <a:ln w="38100" cap="rnd">
            <a:solidFill>
              <a:srgbClr val="02084B"/>
            </a:solidFill>
            <a:prstDash val="solid"/>
            <a:round/>
          </a:ln>
        </p:spPr>
      </p:sp>
      <p:sp>
        <p:nvSpPr>
          <p:cNvPr id="26" name="Freeform 26"/>
          <p:cNvSpPr/>
          <p:nvPr/>
        </p:nvSpPr>
        <p:spPr>
          <a:xfrm rot="-2700000">
            <a:off x="5486284" y="3921638"/>
            <a:ext cx="769194" cy="769194"/>
          </a:xfrm>
          <a:custGeom>
            <a:avLst/>
            <a:gdLst/>
            <a:ahLst/>
            <a:cxnLst/>
            <a:rect l="l" t="t" r="r" b="b"/>
            <a:pathLst>
              <a:path w="769194" h="769194">
                <a:moveTo>
                  <a:pt x="0" y="0"/>
                </a:moveTo>
                <a:lnTo>
                  <a:pt x="769194" y="0"/>
                </a:lnTo>
                <a:lnTo>
                  <a:pt x="769194" y="769194"/>
                </a:lnTo>
                <a:lnTo>
                  <a:pt x="0" y="769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2700000">
            <a:off x="11072847" y="3852609"/>
            <a:ext cx="993506" cy="993506"/>
          </a:xfrm>
          <a:custGeom>
            <a:avLst/>
            <a:gdLst/>
            <a:ahLst/>
            <a:cxnLst/>
            <a:rect l="l" t="t" r="r" b="b"/>
            <a:pathLst>
              <a:path w="993506" h="993506">
                <a:moveTo>
                  <a:pt x="0" y="0"/>
                </a:moveTo>
                <a:lnTo>
                  <a:pt x="993506" y="0"/>
                </a:lnTo>
                <a:lnTo>
                  <a:pt x="993506" y="993506"/>
                </a:lnTo>
                <a:lnTo>
                  <a:pt x="0" y="993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8100000">
            <a:off x="14756108" y="7456961"/>
            <a:ext cx="787355" cy="787355"/>
          </a:xfrm>
          <a:custGeom>
            <a:avLst/>
            <a:gdLst/>
            <a:ahLst/>
            <a:cxnLst/>
            <a:rect l="l" t="t" r="r" b="b"/>
            <a:pathLst>
              <a:path w="787355" h="787355">
                <a:moveTo>
                  <a:pt x="0" y="0"/>
                </a:moveTo>
                <a:lnTo>
                  <a:pt x="787355" y="0"/>
                </a:lnTo>
                <a:lnTo>
                  <a:pt x="787355" y="787354"/>
                </a:lnTo>
                <a:lnTo>
                  <a:pt x="0" y="787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8100000">
            <a:off x="8084531" y="7378075"/>
            <a:ext cx="945126" cy="945126"/>
          </a:xfrm>
          <a:custGeom>
            <a:avLst/>
            <a:gdLst/>
            <a:ahLst/>
            <a:cxnLst/>
            <a:rect l="l" t="t" r="r" b="b"/>
            <a:pathLst>
              <a:path w="945126" h="945126">
                <a:moveTo>
                  <a:pt x="0" y="0"/>
                </a:moveTo>
                <a:lnTo>
                  <a:pt x="945125" y="0"/>
                </a:lnTo>
                <a:lnTo>
                  <a:pt x="945125" y="945126"/>
                </a:lnTo>
                <a:lnTo>
                  <a:pt x="0" y="945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5400000">
            <a:off x="14820119" y="6901734"/>
            <a:ext cx="1744626" cy="244248"/>
          </a:xfrm>
          <a:custGeom>
            <a:avLst/>
            <a:gdLst/>
            <a:ahLst/>
            <a:cxnLst/>
            <a:rect l="l" t="t" r="r" b="b"/>
            <a:pathLst>
              <a:path w="1744626" h="244248">
                <a:moveTo>
                  <a:pt x="0" y="0"/>
                </a:moveTo>
                <a:lnTo>
                  <a:pt x="1744626" y="0"/>
                </a:lnTo>
                <a:lnTo>
                  <a:pt x="1744626" y="244247"/>
                </a:lnTo>
                <a:lnTo>
                  <a:pt x="0" y="244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0" y="947000"/>
            <a:ext cx="1335687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System: MedInsight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32469" y="2680461"/>
            <a:ext cx="239227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Patient Input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33433" y="4587487"/>
            <a:ext cx="3585865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Demographic, medical and  lifestyle data entered through the Streamlit interface.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33433" y="2714116"/>
            <a:ext cx="33027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14263" y="2674303"/>
            <a:ext cx="325381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Preprocessing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70598" y="4473187"/>
            <a:ext cx="4212553" cy="159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 handling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Train-test split 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 scaling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 imbalance handling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62908" y="2800203"/>
            <a:ext cx="3567626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700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ML Model Development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486357" y="4416519"/>
            <a:ext cx="4243853" cy="171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871" lvl="1" indent="-239436" algn="l">
              <a:lnSpc>
                <a:spcPts val="2728"/>
              </a:lnSpc>
              <a:buFont typeface="Arial"/>
              <a:buChar char="•"/>
            </a:pPr>
            <a:r>
              <a:rPr lang="en-US" sz="2218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&amp; compare 6 ML models</a:t>
            </a:r>
          </a:p>
          <a:p>
            <a:pPr marL="478871" lvl="1" indent="-239436" algn="l">
              <a:lnSpc>
                <a:spcPts val="2728"/>
              </a:lnSpc>
              <a:buFont typeface="Arial"/>
              <a:buChar char="•"/>
            </a:pPr>
            <a:r>
              <a:rPr lang="en-US" sz="2218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using multiple metrics</a:t>
            </a:r>
          </a:p>
          <a:p>
            <a:pPr marL="478871" lvl="1" indent="-239436" algn="l">
              <a:lnSpc>
                <a:spcPts val="2728"/>
              </a:lnSpc>
              <a:buFont typeface="Arial"/>
              <a:buChar char="•"/>
            </a:pPr>
            <a:r>
              <a:rPr lang="en-US" sz="2218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tuning</a:t>
            </a:r>
          </a:p>
          <a:p>
            <a:pPr marL="478871" lvl="1" indent="-239436" algn="l">
              <a:lnSpc>
                <a:spcPts val="2728"/>
              </a:lnSpc>
              <a:buFont typeface="Arial"/>
              <a:buChar char="•"/>
            </a:pPr>
            <a:r>
              <a:rPr lang="en-US" sz="2218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</a:t>
            </a:r>
            <a:r>
              <a:rPr lang="en-US" sz="2218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Tuned Balanced Logistic Regression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17753" y="2714116"/>
            <a:ext cx="33027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685921" y="6753733"/>
            <a:ext cx="33027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67921" y="8428854"/>
            <a:ext cx="4320549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based explanations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 importance 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analytics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Performance visualisations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67921" y="6816213"/>
            <a:ext cx="33027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0479" y="6663439"/>
            <a:ext cx="4115361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  <a:spcBef>
                <a:spcPct val="0"/>
              </a:spcBef>
            </a:pPr>
            <a:r>
              <a:rPr lang="en-US" sz="28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Streamlit Application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286367" y="8445482"/>
            <a:ext cx="5483625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Stroke prediction &amp; probability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Risk assessment &amp;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personalised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guidance</a:t>
            </a: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Downloadable PDF assessment report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25592" y="2809728"/>
            <a:ext cx="33027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84830" y="6730873"/>
            <a:ext cx="4174569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  <a:spcBef>
                <a:spcPct val="0"/>
              </a:spcBef>
            </a:pPr>
            <a:r>
              <a:rPr lang="en-US" sz="2899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Explainability &amp; Analytics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622844DF-3B76-EAD1-C698-C7EFEFC5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7878262" y="-122734"/>
            <a:ext cx="2531471" cy="18287998"/>
          </a:xfrm>
          <a:custGeom>
            <a:avLst/>
            <a:gdLst/>
            <a:ahLst/>
            <a:cxnLst/>
            <a:rect l="l" t="t" r="r" b="b"/>
            <a:pathLst>
              <a:path w="2531471" h="19202109">
                <a:moveTo>
                  <a:pt x="0" y="19202109"/>
                </a:moveTo>
                <a:lnTo>
                  <a:pt x="0" y="0"/>
                </a:lnTo>
                <a:lnTo>
                  <a:pt x="2531472" y="0"/>
                </a:lnTo>
                <a:lnTo>
                  <a:pt x="2531472" y="19202109"/>
                </a:lnTo>
                <a:lnTo>
                  <a:pt x="0" y="19202109"/>
                </a:lnTo>
                <a:close/>
              </a:path>
            </a:pathLst>
          </a:custGeom>
          <a:blipFill>
            <a:blip r:embed="rId2"/>
            <a:stretch>
              <a:fillRect l="-353843" r="-5153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70403" y="2306866"/>
            <a:ext cx="8373597" cy="7178825"/>
            <a:chOff x="0" y="0"/>
            <a:chExt cx="2205392" cy="18907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05392" cy="1890719"/>
            </a:xfrm>
            <a:custGeom>
              <a:avLst/>
              <a:gdLst/>
              <a:ahLst/>
              <a:cxnLst/>
              <a:rect l="l" t="t" r="r" b="b"/>
              <a:pathLst>
                <a:path w="2205392" h="1890719">
                  <a:moveTo>
                    <a:pt x="24039" y="0"/>
                  </a:moveTo>
                  <a:lnTo>
                    <a:pt x="2181353" y="0"/>
                  </a:lnTo>
                  <a:cubicBezTo>
                    <a:pt x="2187729" y="0"/>
                    <a:pt x="2193843" y="2533"/>
                    <a:pt x="2198351" y="7041"/>
                  </a:cubicBezTo>
                  <a:cubicBezTo>
                    <a:pt x="2202859" y="11549"/>
                    <a:pt x="2205392" y="17663"/>
                    <a:pt x="2205392" y="24039"/>
                  </a:cubicBezTo>
                  <a:lnTo>
                    <a:pt x="2205392" y="1866681"/>
                  </a:lnTo>
                  <a:cubicBezTo>
                    <a:pt x="2205392" y="1879957"/>
                    <a:pt x="2194629" y="1890719"/>
                    <a:pt x="2181353" y="1890719"/>
                  </a:cubicBezTo>
                  <a:lnTo>
                    <a:pt x="24039" y="1890719"/>
                  </a:lnTo>
                  <a:cubicBezTo>
                    <a:pt x="10762" y="1890719"/>
                    <a:pt x="0" y="1879957"/>
                    <a:pt x="0" y="1866681"/>
                  </a:cubicBezTo>
                  <a:lnTo>
                    <a:pt x="0" y="24039"/>
                  </a:lnTo>
                  <a:cubicBezTo>
                    <a:pt x="0" y="10762"/>
                    <a:pt x="10762" y="0"/>
                    <a:pt x="2403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3F6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05392" cy="19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9936" y="7687240"/>
            <a:ext cx="7034529" cy="1333190"/>
            <a:chOff x="0" y="-76200"/>
            <a:chExt cx="1852715" cy="351128"/>
          </a:xfrm>
        </p:grpSpPr>
        <p:sp>
          <p:nvSpPr>
            <p:cNvPr id="7" name="Freeform 7"/>
            <p:cNvSpPr/>
            <p:nvPr/>
          </p:nvSpPr>
          <p:spPr>
            <a:xfrm>
              <a:off x="0" y="-16581"/>
              <a:ext cx="1852715" cy="274928"/>
            </a:xfrm>
            <a:custGeom>
              <a:avLst/>
              <a:gdLst/>
              <a:ahLst/>
              <a:cxnLst/>
              <a:rect l="l" t="t" r="r" b="b"/>
              <a:pathLst>
                <a:path w="1852715" h="274928">
                  <a:moveTo>
                    <a:pt x="15408" y="0"/>
                  </a:moveTo>
                  <a:lnTo>
                    <a:pt x="1837308" y="0"/>
                  </a:lnTo>
                  <a:cubicBezTo>
                    <a:pt x="1841394" y="0"/>
                    <a:pt x="1845313" y="1623"/>
                    <a:pt x="1848202" y="4513"/>
                  </a:cubicBezTo>
                  <a:cubicBezTo>
                    <a:pt x="1851092" y="7402"/>
                    <a:pt x="1852715" y="11321"/>
                    <a:pt x="1852715" y="15408"/>
                  </a:cubicBezTo>
                  <a:lnTo>
                    <a:pt x="1852715" y="259520"/>
                  </a:lnTo>
                  <a:cubicBezTo>
                    <a:pt x="1852715" y="263607"/>
                    <a:pt x="1851092" y="267526"/>
                    <a:pt x="1848202" y="270415"/>
                  </a:cubicBezTo>
                  <a:cubicBezTo>
                    <a:pt x="1845313" y="273305"/>
                    <a:pt x="1841394" y="274928"/>
                    <a:pt x="1837308" y="274928"/>
                  </a:cubicBezTo>
                  <a:lnTo>
                    <a:pt x="15408" y="274928"/>
                  </a:lnTo>
                  <a:cubicBezTo>
                    <a:pt x="6898" y="274928"/>
                    <a:pt x="0" y="268030"/>
                    <a:pt x="0" y="259520"/>
                  </a:cubicBezTo>
                  <a:lnTo>
                    <a:pt x="0" y="15408"/>
                  </a:lnTo>
                  <a:cubicBezTo>
                    <a:pt x="0" y="11321"/>
                    <a:pt x="1623" y="7402"/>
                    <a:pt x="4513" y="4513"/>
                  </a:cubicBezTo>
                  <a:cubicBezTo>
                    <a:pt x="7402" y="1623"/>
                    <a:pt x="11321" y="0"/>
                    <a:pt x="15408" y="0"/>
                  </a:cubicBezTo>
                  <a:close/>
                </a:path>
              </a:pathLst>
            </a:custGeom>
            <a:solidFill>
              <a:srgbClr val="E8FAFF"/>
            </a:solidFill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852715" cy="351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spc="-59" dirty="0">
                  <a:solidFill>
                    <a:srgbClr val="043C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Highly imbalanced target class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947704"/>
            <a:ext cx="953661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0120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&amp; Preprocessing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8700" y="1906554"/>
            <a:ext cx="9725463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9537936" y="2296717"/>
            <a:ext cx="7939908" cy="7188975"/>
            <a:chOff x="0" y="0"/>
            <a:chExt cx="2091169" cy="18933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1169" cy="1893393"/>
            </a:xfrm>
            <a:custGeom>
              <a:avLst/>
              <a:gdLst/>
              <a:ahLst/>
              <a:cxnLst/>
              <a:rect l="l" t="t" r="r" b="b"/>
              <a:pathLst>
                <a:path w="2091169" h="1893393">
                  <a:moveTo>
                    <a:pt x="25352" y="0"/>
                  </a:moveTo>
                  <a:lnTo>
                    <a:pt x="2065818" y="0"/>
                  </a:lnTo>
                  <a:cubicBezTo>
                    <a:pt x="2072541" y="0"/>
                    <a:pt x="2078990" y="2671"/>
                    <a:pt x="2083744" y="7425"/>
                  </a:cubicBezTo>
                  <a:cubicBezTo>
                    <a:pt x="2088498" y="12180"/>
                    <a:pt x="2091169" y="18628"/>
                    <a:pt x="2091169" y="25352"/>
                  </a:cubicBezTo>
                  <a:lnTo>
                    <a:pt x="2091169" y="1868041"/>
                  </a:lnTo>
                  <a:cubicBezTo>
                    <a:pt x="2091169" y="1874765"/>
                    <a:pt x="2088498" y="1881213"/>
                    <a:pt x="2083744" y="1885967"/>
                  </a:cubicBezTo>
                  <a:cubicBezTo>
                    <a:pt x="2078990" y="1890722"/>
                    <a:pt x="2072541" y="1893393"/>
                    <a:pt x="2065818" y="1893393"/>
                  </a:cubicBezTo>
                  <a:lnTo>
                    <a:pt x="25352" y="1893393"/>
                  </a:lnTo>
                  <a:cubicBezTo>
                    <a:pt x="18628" y="1893393"/>
                    <a:pt x="12180" y="1890722"/>
                    <a:pt x="7425" y="1885967"/>
                  </a:cubicBezTo>
                  <a:cubicBezTo>
                    <a:pt x="2671" y="1881213"/>
                    <a:pt x="0" y="1874765"/>
                    <a:pt x="0" y="1868041"/>
                  </a:cubicBezTo>
                  <a:lnTo>
                    <a:pt x="0" y="25352"/>
                  </a:lnTo>
                  <a:cubicBezTo>
                    <a:pt x="0" y="18628"/>
                    <a:pt x="2671" y="12180"/>
                    <a:pt x="7425" y="7425"/>
                  </a:cubicBezTo>
                  <a:cubicBezTo>
                    <a:pt x="12180" y="2671"/>
                    <a:pt x="18628" y="0"/>
                    <a:pt x="253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3F6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91169" cy="1931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951282" y="2141360"/>
            <a:ext cx="3578148" cy="858062"/>
            <a:chOff x="0" y="0"/>
            <a:chExt cx="942393" cy="2259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2393" cy="225992"/>
            </a:xfrm>
            <a:custGeom>
              <a:avLst/>
              <a:gdLst/>
              <a:ahLst/>
              <a:cxnLst/>
              <a:rect l="l" t="t" r="r" b="b"/>
              <a:pathLst>
                <a:path w="942393" h="225992">
                  <a:moveTo>
                    <a:pt x="56255" y="0"/>
                  </a:moveTo>
                  <a:lnTo>
                    <a:pt x="886138" y="0"/>
                  </a:lnTo>
                  <a:cubicBezTo>
                    <a:pt x="917207" y="0"/>
                    <a:pt x="942393" y="25186"/>
                    <a:pt x="942393" y="56255"/>
                  </a:cubicBezTo>
                  <a:lnTo>
                    <a:pt x="942393" y="169736"/>
                  </a:lnTo>
                  <a:cubicBezTo>
                    <a:pt x="942393" y="200805"/>
                    <a:pt x="917207" y="225992"/>
                    <a:pt x="886138" y="225992"/>
                  </a:cubicBezTo>
                  <a:lnTo>
                    <a:pt x="56255" y="225992"/>
                  </a:lnTo>
                  <a:cubicBezTo>
                    <a:pt x="25186" y="225992"/>
                    <a:pt x="0" y="200805"/>
                    <a:pt x="0" y="169736"/>
                  </a:cubicBezTo>
                  <a:lnTo>
                    <a:pt x="0" y="56255"/>
                  </a:lnTo>
                  <a:cubicBezTo>
                    <a:pt x="0" y="25186"/>
                    <a:pt x="25186" y="0"/>
                    <a:pt x="56255" y="0"/>
                  </a:cubicBezTo>
                  <a:close/>
                </a:path>
              </a:pathLst>
            </a:custGeom>
            <a:solidFill>
              <a:srgbClr val="0A2D4D"/>
            </a:solidFill>
            <a:ln w="38100" cap="rnd">
              <a:solidFill>
                <a:srgbClr val="1C3F6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42393" cy="264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718816" y="2141360"/>
            <a:ext cx="3578148" cy="858062"/>
            <a:chOff x="0" y="0"/>
            <a:chExt cx="942393" cy="225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42393" cy="225992"/>
            </a:xfrm>
            <a:custGeom>
              <a:avLst/>
              <a:gdLst/>
              <a:ahLst/>
              <a:cxnLst/>
              <a:rect l="l" t="t" r="r" b="b"/>
              <a:pathLst>
                <a:path w="942393" h="225992">
                  <a:moveTo>
                    <a:pt x="56255" y="0"/>
                  </a:moveTo>
                  <a:lnTo>
                    <a:pt x="886138" y="0"/>
                  </a:lnTo>
                  <a:cubicBezTo>
                    <a:pt x="917207" y="0"/>
                    <a:pt x="942393" y="25186"/>
                    <a:pt x="942393" y="56255"/>
                  </a:cubicBezTo>
                  <a:lnTo>
                    <a:pt x="942393" y="169736"/>
                  </a:lnTo>
                  <a:cubicBezTo>
                    <a:pt x="942393" y="200805"/>
                    <a:pt x="917207" y="225992"/>
                    <a:pt x="886138" y="225992"/>
                  </a:cubicBezTo>
                  <a:lnTo>
                    <a:pt x="56255" y="225992"/>
                  </a:lnTo>
                  <a:cubicBezTo>
                    <a:pt x="25186" y="225992"/>
                    <a:pt x="0" y="200805"/>
                    <a:pt x="0" y="169736"/>
                  </a:cubicBezTo>
                  <a:lnTo>
                    <a:pt x="0" y="56255"/>
                  </a:lnTo>
                  <a:cubicBezTo>
                    <a:pt x="0" y="25186"/>
                    <a:pt x="25186" y="0"/>
                    <a:pt x="56255" y="0"/>
                  </a:cubicBezTo>
                  <a:close/>
                </a:path>
              </a:pathLst>
            </a:custGeom>
            <a:solidFill>
              <a:srgbClr val="0A2D4D"/>
            </a:solidFill>
            <a:ln w="38100" cap="rnd">
              <a:solidFill>
                <a:srgbClr val="1C3F6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42393" cy="264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15512" y="3218497"/>
            <a:ext cx="1364613" cy="1744682"/>
            <a:chOff x="0" y="0"/>
            <a:chExt cx="359404" cy="4595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9404" cy="459505"/>
            </a:xfrm>
            <a:custGeom>
              <a:avLst/>
              <a:gdLst/>
              <a:ahLst/>
              <a:cxnLst/>
              <a:rect l="l" t="t" r="r" b="b"/>
              <a:pathLst>
                <a:path w="359404" h="459505">
                  <a:moveTo>
                    <a:pt x="90773" y="0"/>
                  </a:moveTo>
                  <a:lnTo>
                    <a:pt x="268631" y="0"/>
                  </a:lnTo>
                  <a:cubicBezTo>
                    <a:pt x="318764" y="0"/>
                    <a:pt x="359404" y="40641"/>
                    <a:pt x="359404" y="90773"/>
                  </a:cubicBezTo>
                  <a:lnTo>
                    <a:pt x="359404" y="368731"/>
                  </a:lnTo>
                  <a:cubicBezTo>
                    <a:pt x="359404" y="392806"/>
                    <a:pt x="349841" y="415894"/>
                    <a:pt x="332817" y="432918"/>
                  </a:cubicBezTo>
                  <a:cubicBezTo>
                    <a:pt x="315794" y="449941"/>
                    <a:pt x="292706" y="459505"/>
                    <a:pt x="268631" y="459505"/>
                  </a:cubicBezTo>
                  <a:lnTo>
                    <a:pt x="90773" y="459505"/>
                  </a:lnTo>
                  <a:cubicBezTo>
                    <a:pt x="66699" y="459505"/>
                    <a:pt x="43610" y="449941"/>
                    <a:pt x="26587" y="432918"/>
                  </a:cubicBezTo>
                  <a:cubicBezTo>
                    <a:pt x="9564" y="415894"/>
                    <a:pt x="0" y="392806"/>
                    <a:pt x="0" y="368731"/>
                  </a:cubicBezTo>
                  <a:lnTo>
                    <a:pt x="0" y="90773"/>
                  </a:lnTo>
                  <a:cubicBezTo>
                    <a:pt x="0" y="66699"/>
                    <a:pt x="9564" y="43610"/>
                    <a:pt x="26587" y="26587"/>
                  </a:cubicBezTo>
                  <a:cubicBezTo>
                    <a:pt x="43610" y="9564"/>
                    <a:pt x="66699" y="0"/>
                    <a:pt x="90773" y="0"/>
                  </a:cubicBezTo>
                  <a:close/>
                </a:path>
              </a:pathLst>
            </a:custGeom>
            <a:solidFill>
              <a:srgbClr val="D6EFF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38100"/>
              <a:ext cx="359404" cy="421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379288" y="3241250"/>
            <a:ext cx="1364613" cy="1712330"/>
            <a:chOff x="0" y="0"/>
            <a:chExt cx="359404" cy="4509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9404" cy="450984"/>
            </a:xfrm>
            <a:custGeom>
              <a:avLst/>
              <a:gdLst/>
              <a:ahLst/>
              <a:cxnLst/>
              <a:rect l="l" t="t" r="r" b="b"/>
              <a:pathLst>
                <a:path w="359404" h="450984">
                  <a:moveTo>
                    <a:pt x="90773" y="0"/>
                  </a:moveTo>
                  <a:lnTo>
                    <a:pt x="268631" y="0"/>
                  </a:lnTo>
                  <a:cubicBezTo>
                    <a:pt x="318764" y="0"/>
                    <a:pt x="359404" y="40641"/>
                    <a:pt x="359404" y="90773"/>
                  </a:cubicBezTo>
                  <a:lnTo>
                    <a:pt x="359404" y="360210"/>
                  </a:lnTo>
                  <a:cubicBezTo>
                    <a:pt x="359404" y="384285"/>
                    <a:pt x="349841" y="407374"/>
                    <a:pt x="332817" y="424397"/>
                  </a:cubicBezTo>
                  <a:cubicBezTo>
                    <a:pt x="315794" y="441420"/>
                    <a:pt x="292706" y="450984"/>
                    <a:pt x="268631" y="450984"/>
                  </a:cubicBezTo>
                  <a:lnTo>
                    <a:pt x="90773" y="450984"/>
                  </a:lnTo>
                  <a:cubicBezTo>
                    <a:pt x="66699" y="450984"/>
                    <a:pt x="43610" y="441420"/>
                    <a:pt x="26587" y="424397"/>
                  </a:cubicBezTo>
                  <a:cubicBezTo>
                    <a:pt x="9564" y="407374"/>
                    <a:pt x="0" y="384285"/>
                    <a:pt x="0" y="360210"/>
                  </a:cubicBezTo>
                  <a:lnTo>
                    <a:pt x="0" y="90773"/>
                  </a:lnTo>
                  <a:cubicBezTo>
                    <a:pt x="0" y="66699"/>
                    <a:pt x="9564" y="43610"/>
                    <a:pt x="26587" y="26587"/>
                  </a:cubicBezTo>
                  <a:cubicBezTo>
                    <a:pt x="43610" y="9564"/>
                    <a:pt x="66699" y="0"/>
                    <a:pt x="90773" y="0"/>
                  </a:cubicBezTo>
                  <a:close/>
                </a:path>
              </a:pathLst>
            </a:custGeom>
            <a:solidFill>
              <a:srgbClr val="D6EFF6"/>
            </a:solidFill>
            <a:ln w="28575" cap="sq">
              <a:solidFill>
                <a:srgbClr val="01294E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38100"/>
              <a:ext cx="359404" cy="412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27746" y="3218497"/>
            <a:ext cx="1364613" cy="1735082"/>
            <a:chOff x="0" y="0"/>
            <a:chExt cx="359404" cy="4569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9404" cy="456976"/>
            </a:xfrm>
            <a:custGeom>
              <a:avLst/>
              <a:gdLst/>
              <a:ahLst/>
              <a:cxnLst/>
              <a:rect l="l" t="t" r="r" b="b"/>
              <a:pathLst>
                <a:path w="359404" h="456976">
                  <a:moveTo>
                    <a:pt x="90773" y="0"/>
                  </a:moveTo>
                  <a:lnTo>
                    <a:pt x="268631" y="0"/>
                  </a:lnTo>
                  <a:cubicBezTo>
                    <a:pt x="318764" y="0"/>
                    <a:pt x="359404" y="40641"/>
                    <a:pt x="359404" y="90773"/>
                  </a:cubicBezTo>
                  <a:lnTo>
                    <a:pt x="359404" y="366203"/>
                  </a:lnTo>
                  <a:cubicBezTo>
                    <a:pt x="359404" y="390278"/>
                    <a:pt x="349841" y="413366"/>
                    <a:pt x="332817" y="430389"/>
                  </a:cubicBezTo>
                  <a:cubicBezTo>
                    <a:pt x="315794" y="447413"/>
                    <a:pt x="292706" y="456976"/>
                    <a:pt x="268631" y="456976"/>
                  </a:cubicBezTo>
                  <a:lnTo>
                    <a:pt x="90773" y="456976"/>
                  </a:lnTo>
                  <a:cubicBezTo>
                    <a:pt x="66699" y="456976"/>
                    <a:pt x="43610" y="447413"/>
                    <a:pt x="26587" y="430389"/>
                  </a:cubicBezTo>
                  <a:cubicBezTo>
                    <a:pt x="9564" y="413366"/>
                    <a:pt x="0" y="390278"/>
                    <a:pt x="0" y="366203"/>
                  </a:cubicBezTo>
                  <a:lnTo>
                    <a:pt x="0" y="90773"/>
                  </a:lnTo>
                  <a:cubicBezTo>
                    <a:pt x="0" y="66699"/>
                    <a:pt x="9564" y="43610"/>
                    <a:pt x="26587" y="26587"/>
                  </a:cubicBezTo>
                  <a:cubicBezTo>
                    <a:pt x="43610" y="9564"/>
                    <a:pt x="66699" y="0"/>
                    <a:pt x="90773" y="0"/>
                  </a:cubicBezTo>
                  <a:close/>
                </a:path>
              </a:pathLst>
            </a:custGeom>
            <a:solidFill>
              <a:srgbClr val="D6EFF6"/>
            </a:solidFill>
            <a:ln w="28575" cap="sq">
              <a:solidFill>
                <a:srgbClr val="01203C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38100"/>
              <a:ext cx="359404" cy="418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45697" y="3241250"/>
            <a:ext cx="1364613" cy="1735082"/>
            <a:chOff x="0" y="0"/>
            <a:chExt cx="359404" cy="4569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9404" cy="456976"/>
            </a:xfrm>
            <a:custGeom>
              <a:avLst/>
              <a:gdLst/>
              <a:ahLst/>
              <a:cxnLst/>
              <a:rect l="l" t="t" r="r" b="b"/>
              <a:pathLst>
                <a:path w="359404" h="456976">
                  <a:moveTo>
                    <a:pt x="90773" y="0"/>
                  </a:moveTo>
                  <a:lnTo>
                    <a:pt x="268631" y="0"/>
                  </a:lnTo>
                  <a:cubicBezTo>
                    <a:pt x="318764" y="0"/>
                    <a:pt x="359404" y="40641"/>
                    <a:pt x="359404" y="90773"/>
                  </a:cubicBezTo>
                  <a:lnTo>
                    <a:pt x="359404" y="366203"/>
                  </a:lnTo>
                  <a:cubicBezTo>
                    <a:pt x="359404" y="390278"/>
                    <a:pt x="349841" y="413366"/>
                    <a:pt x="332817" y="430389"/>
                  </a:cubicBezTo>
                  <a:cubicBezTo>
                    <a:pt x="315794" y="447413"/>
                    <a:pt x="292706" y="456976"/>
                    <a:pt x="268631" y="456976"/>
                  </a:cubicBezTo>
                  <a:lnTo>
                    <a:pt x="90773" y="456976"/>
                  </a:lnTo>
                  <a:cubicBezTo>
                    <a:pt x="66699" y="456976"/>
                    <a:pt x="43610" y="447413"/>
                    <a:pt x="26587" y="430389"/>
                  </a:cubicBezTo>
                  <a:cubicBezTo>
                    <a:pt x="9564" y="413366"/>
                    <a:pt x="0" y="390278"/>
                    <a:pt x="0" y="366203"/>
                  </a:cubicBezTo>
                  <a:lnTo>
                    <a:pt x="0" y="90773"/>
                  </a:lnTo>
                  <a:cubicBezTo>
                    <a:pt x="0" y="66699"/>
                    <a:pt x="9564" y="43610"/>
                    <a:pt x="26587" y="26587"/>
                  </a:cubicBezTo>
                  <a:cubicBezTo>
                    <a:pt x="43610" y="9564"/>
                    <a:pt x="66699" y="0"/>
                    <a:pt x="90773" y="0"/>
                  </a:cubicBezTo>
                  <a:close/>
                </a:path>
              </a:pathLst>
            </a:custGeom>
            <a:solidFill>
              <a:srgbClr val="D6EFF6"/>
            </a:solidFill>
            <a:ln w="28575" cap="sq">
              <a:solidFill>
                <a:srgbClr val="0A2D4D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38100"/>
              <a:ext cx="359404" cy="418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 flipV="1">
            <a:off x="1334220" y="5243070"/>
            <a:ext cx="7245963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3" name="Group 33"/>
          <p:cNvGrpSpPr/>
          <p:nvPr/>
        </p:nvGrpSpPr>
        <p:grpSpPr>
          <a:xfrm>
            <a:off x="2822173" y="6232429"/>
            <a:ext cx="5011146" cy="492744"/>
            <a:chOff x="0" y="0"/>
            <a:chExt cx="1319808" cy="12977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19808" cy="129776"/>
            </a:xfrm>
            <a:custGeom>
              <a:avLst/>
              <a:gdLst/>
              <a:ahLst/>
              <a:cxnLst/>
              <a:rect l="l" t="t" r="r" b="b"/>
              <a:pathLst>
                <a:path w="1319808" h="129776">
                  <a:moveTo>
                    <a:pt x="0" y="0"/>
                  </a:moveTo>
                  <a:lnTo>
                    <a:pt x="1319808" y="0"/>
                  </a:lnTo>
                  <a:lnTo>
                    <a:pt x="1319808" y="129776"/>
                  </a:lnTo>
                  <a:lnTo>
                    <a:pt x="0" y="129776"/>
                  </a:lnTo>
                  <a:close/>
                </a:path>
              </a:pathLst>
            </a:custGeom>
            <a:solidFill>
              <a:srgbClr val="1B7895"/>
            </a:solidFill>
            <a:ln w="38100" cap="sq">
              <a:solidFill>
                <a:srgbClr val="1B7895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19808" cy="16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795444" y="7020448"/>
            <a:ext cx="5011146" cy="492744"/>
            <a:chOff x="0" y="0"/>
            <a:chExt cx="1319808" cy="1297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19808" cy="129776"/>
            </a:xfrm>
            <a:custGeom>
              <a:avLst/>
              <a:gdLst/>
              <a:ahLst/>
              <a:cxnLst/>
              <a:rect l="l" t="t" r="r" b="b"/>
              <a:pathLst>
                <a:path w="1319808" h="129776">
                  <a:moveTo>
                    <a:pt x="0" y="0"/>
                  </a:moveTo>
                  <a:lnTo>
                    <a:pt x="1319808" y="0"/>
                  </a:lnTo>
                  <a:lnTo>
                    <a:pt x="1319808" y="129776"/>
                  </a:lnTo>
                  <a:lnTo>
                    <a:pt x="0" y="129776"/>
                  </a:lnTo>
                  <a:close/>
                </a:path>
              </a:pathLst>
            </a:custGeom>
            <a:solidFill>
              <a:srgbClr val="ECEDF1"/>
            </a:solidFill>
            <a:ln w="38100" cap="sq">
              <a:solidFill>
                <a:srgbClr val="ECEDF1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319808" cy="16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822173" y="7041700"/>
            <a:ext cx="399443" cy="471493"/>
            <a:chOff x="0" y="0"/>
            <a:chExt cx="105203" cy="12417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5203" cy="124179"/>
            </a:xfrm>
            <a:custGeom>
              <a:avLst/>
              <a:gdLst/>
              <a:ahLst/>
              <a:cxnLst/>
              <a:rect l="l" t="t" r="r" b="b"/>
              <a:pathLst>
                <a:path w="105203" h="124179">
                  <a:moveTo>
                    <a:pt x="0" y="0"/>
                  </a:moveTo>
                  <a:lnTo>
                    <a:pt x="105203" y="0"/>
                  </a:lnTo>
                  <a:lnTo>
                    <a:pt x="105203" y="124179"/>
                  </a:lnTo>
                  <a:lnTo>
                    <a:pt x="0" y="124179"/>
                  </a:lnTo>
                  <a:close/>
                </a:path>
              </a:pathLst>
            </a:custGeom>
            <a:solidFill>
              <a:srgbClr val="E31919"/>
            </a:solidFill>
            <a:ln w="38100" cap="sq">
              <a:solidFill>
                <a:srgbClr val="E31919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05203" cy="162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997818" y="8149671"/>
            <a:ext cx="498837" cy="429000"/>
          </a:xfrm>
          <a:custGeom>
            <a:avLst/>
            <a:gdLst/>
            <a:ahLst/>
            <a:cxnLst/>
            <a:rect l="l" t="t" r="r" b="b"/>
            <a:pathLst>
              <a:path w="498837" h="429000">
                <a:moveTo>
                  <a:pt x="0" y="0"/>
                </a:moveTo>
                <a:lnTo>
                  <a:pt x="498837" y="0"/>
                </a:lnTo>
                <a:lnTo>
                  <a:pt x="498837" y="429000"/>
                </a:lnTo>
                <a:lnTo>
                  <a:pt x="0" y="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607668" y="3597401"/>
            <a:ext cx="7800444" cy="5270056"/>
          </a:xfrm>
          <a:custGeom>
            <a:avLst/>
            <a:gdLst/>
            <a:ahLst/>
            <a:cxnLst/>
            <a:rect l="l" t="t" r="r" b="b"/>
            <a:pathLst>
              <a:path w="7800444" h="5270056">
                <a:moveTo>
                  <a:pt x="0" y="0"/>
                </a:moveTo>
                <a:lnTo>
                  <a:pt x="7800444" y="0"/>
                </a:lnTo>
                <a:lnTo>
                  <a:pt x="7800444" y="5270056"/>
                </a:lnTo>
                <a:lnTo>
                  <a:pt x="0" y="527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7" t="-1251" r="-2860" b="-1568"/>
            </a:stretch>
          </a:blipFill>
          <a:ln w="38100" cap="sq">
            <a:solidFill>
              <a:srgbClr val="1B7895"/>
            </a:solidFill>
            <a:prstDash val="solid"/>
            <a:miter/>
          </a:ln>
        </p:spPr>
      </p:sp>
      <p:sp>
        <p:nvSpPr>
          <p:cNvPr id="44" name="TextBox 44"/>
          <p:cNvSpPr txBox="1"/>
          <p:nvPr/>
        </p:nvSpPr>
        <p:spPr>
          <a:xfrm>
            <a:off x="3051702" y="2346585"/>
            <a:ext cx="337730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Overview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207733" y="2358794"/>
            <a:ext cx="260031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Preprocessing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2216" y="3789069"/>
            <a:ext cx="1679957" cy="44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5110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221616" y="3789069"/>
            <a:ext cx="1679957" cy="44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70074" y="3789069"/>
            <a:ext cx="1679957" cy="44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4861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188026" y="3845976"/>
            <a:ext cx="1679957" cy="44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249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68592" y="4317875"/>
            <a:ext cx="1411534" cy="61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2300" b="1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Patient Records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55828" y="4364300"/>
            <a:ext cx="1411534" cy="58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 b="1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Features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304286" y="4502412"/>
            <a:ext cx="1411534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2300" b="1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Stroke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322237" y="4521462"/>
            <a:ext cx="141153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Stroke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0403" y="5547907"/>
            <a:ext cx="7939908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b="1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 Distribution - Stroke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8347" y="6321956"/>
            <a:ext cx="182709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Stroke(0)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28700" y="7109975"/>
            <a:ext cx="171531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Stroke (1)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806590" y="6356335"/>
            <a:ext cx="1265934" cy="36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7"/>
              </a:lnSpc>
              <a:spcBef>
                <a:spcPct val="0"/>
              </a:spcBef>
            </a:pPr>
            <a:r>
              <a:rPr lang="en-US" sz="2607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95.1%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16199" y="7079800"/>
            <a:ext cx="89427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4.9%</a:t>
            </a:r>
          </a:p>
        </p:txBody>
      </p:sp>
      <p:sp>
        <p:nvSpPr>
          <p:cNvPr id="60" name="Freeform 4">
            <a:extLst>
              <a:ext uri="{FF2B5EF4-FFF2-40B4-BE49-F238E27FC236}">
                <a16:creationId xmlns:a16="http://schemas.microsoft.com/office/drawing/2014/main" id="{D548F1B6-6E5A-B92F-2BB5-A910C821D391}"/>
              </a:ext>
            </a:extLst>
          </p:cNvPr>
          <p:cNvSpPr/>
          <p:nvPr/>
        </p:nvSpPr>
        <p:spPr>
          <a:xfrm>
            <a:off x="16078200" y="564462"/>
            <a:ext cx="1612842" cy="1561427"/>
          </a:xfrm>
          <a:custGeom>
            <a:avLst/>
            <a:gdLst/>
            <a:ahLst/>
            <a:cxnLst/>
            <a:rect l="l" t="t" r="r" b="b"/>
            <a:pathLst>
              <a:path w="1688804" h="1642336">
                <a:moveTo>
                  <a:pt x="0" y="0"/>
                </a:moveTo>
                <a:lnTo>
                  <a:pt x="1688804" y="0"/>
                </a:lnTo>
                <a:lnTo>
                  <a:pt x="1688804" y="1642335"/>
                </a:lnTo>
                <a:lnTo>
                  <a:pt x="0" y="1642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54C19C60-8205-9F06-4744-C3376E22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-47900"/>
            <a:ext cx="18288000" cy="2214479"/>
          </a:xfrm>
          <a:custGeom>
            <a:avLst/>
            <a:gdLst/>
            <a:ahLst/>
            <a:cxnLst/>
            <a:rect l="l" t="t" r="r" b="b"/>
            <a:pathLst>
              <a:path w="18519717" h="4518534">
                <a:moveTo>
                  <a:pt x="0" y="0"/>
                </a:moveTo>
                <a:lnTo>
                  <a:pt x="18519717" y="0"/>
                </a:lnTo>
                <a:lnTo>
                  <a:pt x="18519717" y="4518534"/>
                </a:lnTo>
                <a:lnTo>
                  <a:pt x="0" y="4518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921" t="-491594" b="-37375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28675"/>
            <a:ext cx="12474381" cy="96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7000" b="1">
                <a:solidFill>
                  <a:srgbClr val="0120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Methodology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700" y="1797054"/>
            <a:ext cx="12474381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954577" y="2751455"/>
            <a:ext cx="5940566" cy="6784906"/>
            <a:chOff x="0" y="0"/>
            <a:chExt cx="1564593" cy="17869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4593" cy="1786971"/>
            </a:xfrm>
            <a:custGeom>
              <a:avLst/>
              <a:gdLst/>
              <a:ahLst/>
              <a:cxnLst/>
              <a:rect l="l" t="t" r="r" b="b"/>
              <a:pathLst>
                <a:path w="1564593" h="1786971">
                  <a:moveTo>
                    <a:pt x="33884" y="0"/>
                  </a:moveTo>
                  <a:lnTo>
                    <a:pt x="1530709" y="0"/>
                  </a:lnTo>
                  <a:cubicBezTo>
                    <a:pt x="1549423" y="0"/>
                    <a:pt x="1564593" y="15170"/>
                    <a:pt x="1564593" y="33884"/>
                  </a:cubicBezTo>
                  <a:lnTo>
                    <a:pt x="1564593" y="1753087"/>
                  </a:lnTo>
                  <a:cubicBezTo>
                    <a:pt x="1564593" y="1771801"/>
                    <a:pt x="1549423" y="1786971"/>
                    <a:pt x="1530709" y="1786971"/>
                  </a:cubicBezTo>
                  <a:lnTo>
                    <a:pt x="33884" y="1786971"/>
                  </a:lnTo>
                  <a:cubicBezTo>
                    <a:pt x="15170" y="1786971"/>
                    <a:pt x="0" y="1771801"/>
                    <a:pt x="0" y="1753087"/>
                  </a:cubicBezTo>
                  <a:lnTo>
                    <a:pt x="0" y="33884"/>
                  </a:lnTo>
                  <a:cubicBezTo>
                    <a:pt x="0" y="15170"/>
                    <a:pt x="15170" y="0"/>
                    <a:pt x="33884" y="0"/>
                  </a:cubicBezTo>
                  <a:close/>
                </a:path>
              </a:pathLst>
            </a:custGeom>
            <a:solidFill>
              <a:srgbClr val="F5FDFF"/>
            </a:solidFill>
            <a:ln w="38100" cap="rnd">
              <a:solidFill>
                <a:srgbClr val="043C7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4593" cy="1825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02260" y="2351954"/>
            <a:ext cx="3415946" cy="858062"/>
            <a:chOff x="0" y="0"/>
            <a:chExt cx="899673" cy="2259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73" cy="225992"/>
            </a:xfrm>
            <a:custGeom>
              <a:avLst/>
              <a:gdLst/>
              <a:ahLst/>
              <a:cxnLst/>
              <a:rect l="l" t="t" r="r" b="b"/>
              <a:pathLst>
                <a:path w="899673" h="225992">
                  <a:moveTo>
                    <a:pt x="58927" y="0"/>
                  </a:moveTo>
                  <a:lnTo>
                    <a:pt x="840747" y="0"/>
                  </a:lnTo>
                  <a:cubicBezTo>
                    <a:pt x="856375" y="0"/>
                    <a:pt x="871363" y="6208"/>
                    <a:pt x="882414" y="17259"/>
                  </a:cubicBezTo>
                  <a:cubicBezTo>
                    <a:pt x="893465" y="28310"/>
                    <a:pt x="899673" y="43298"/>
                    <a:pt x="899673" y="58927"/>
                  </a:cubicBezTo>
                  <a:lnTo>
                    <a:pt x="899673" y="167065"/>
                  </a:lnTo>
                  <a:cubicBezTo>
                    <a:pt x="899673" y="182693"/>
                    <a:pt x="893465" y="197682"/>
                    <a:pt x="882414" y="208733"/>
                  </a:cubicBezTo>
                  <a:cubicBezTo>
                    <a:pt x="871363" y="219783"/>
                    <a:pt x="856375" y="225992"/>
                    <a:pt x="840747" y="225992"/>
                  </a:cubicBezTo>
                  <a:lnTo>
                    <a:pt x="58927" y="225992"/>
                  </a:lnTo>
                  <a:cubicBezTo>
                    <a:pt x="43298" y="225992"/>
                    <a:pt x="28310" y="219783"/>
                    <a:pt x="17259" y="208733"/>
                  </a:cubicBezTo>
                  <a:cubicBezTo>
                    <a:pt x="6208" y="197682"/>
                    <a:pt x="0" y="182693"/>
                    <a:pt x="0" y="167065"/>
                  </a:cubicBezTo>
                  <a:lnTo>
                    <a:pt x="0" y="58927"/>
                  </a:lnTo>
                  <a:cubicBezTo>
                    <a:pt x="0" y="43298"/>
                    <a:pt x="6208" y="28310"/>
                    <a:pt x="17259" y="17259"/>
                  </a:cubicBezTo>
                  <a:cubicBezTo>
                    <a:pt x="28310" y="6208"/>
                    <a:pt x="43298" y="0"/>
                    <a:pt x="58927" y="0"/>
                  </a:cubicBezTo>
                  <a:close/>
                </a:path>
              </a:pathLst>
            </a:custGeom>
            <a:solidFill>
              <a:srgbClr val="043C70"/>
            </a:solidFill>
            <a:ln w="38100" cap="rnd">
              <a:solidFill>
                <a:srgbClr val="1C3F6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73" cy="264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2212" y="3608435"/>
            <a:ext cx="471626" cy="471626"/>
          </a:xfrm>
          <a:custGeom>
            <a:avLst/>
            <a:gdLst/>
            <a:ahLst/>
            <a:cxnLst/>
            <a:rect l="l" t="t" r="r" b="b"/>
            <a:pathLst>
              <a:path w="471626" h="471626">
                <a:moveTo>
                  <a:pt x="0" y="0"/>
                </a:moveTo>
                <a:lnTo>
                  <a:pt x="471626" y="0"/>
                </a:lnTo>
                <a:lnTo>
                  <a:pt x="471626" y="471626"/>
                </a:lnTo>
                <a:lnTo>
                  <a:pt x="0" y="471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502212" y="4593188"/>
            <a:ext cx="550312" cy="550312"/>
          </a:xfrm>
          <a:custGeom>
            <a:avLst/>
            <a:gdLst/>
            <a:ahLst/>
            <a:cxnLst/>
            <a:rect l="l" t="t" r="r" b="b"/>
            <a:pathLst>
              <a:path w="550312" h="550312">
                <a:moveTo>
                  <a:pt x="0" y="0"/>
                </a:moveTo>
                <a:lnTo>
                  <a:pt x="550312" y="0"/>
                </a:lnTo>
                <a:lnTo>
                  <a:pt x="550312" y="550312"/>
                </a:lnTo>
                <a:lnTo>
                  <a:pt x="0" y="550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19529" y="6614265"/>
            <a:ext cx="532995" cy="522335"/>
          </a:xfrm>
          <a:custGeom>
            <a:avLst/>
            <a:gdLst/>
            <a:ahLst/>
            <a:cxnLst/>
            <a:rect l="l" t="t" r="r" b="b"/>
            <a:pathLst>
              <a:path w="532995" h="522335">
                <a:moveTo>
                  <a:pt x="0" y="0"/>
                </a:moveTo>
                <a:lnTo>
                  <a:pt x="532995" y="0"/>
                </a:lnTo>
                <a:lnTo>
                  <a:pt x="532995" y="522336"/>
                </a:lnTo>
                <a:lnTo>
                  <a:pt x="0" y="522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19529" y="8451194"/>
            <a:ext cx="651029" cy="556630"/>
          </a:xfrm>
          <a:custGeom>
            <a:avLst/>
            <a:gdLst/>
            <a:ahLst/>
            <a:cxnLst/>
            <a:rect l="l" t="t" r="r" b="b"/>
            <a:pathLst>
              <a:path w="651029" h="556630">
                <a:moveTo>
                  <a:pt x="0" y="0"/>
                </a:moveTo>
                <a:lnTo>
                  <a:pt x="651029" y="0"/>
                </a:lnTo>
                <a:lnTo>
                  <a:pt x="651029" y="556630"/>
                </a:lnTo>
                <a:lnTo>
                  <a:pt x="0" y="556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80594" y="7511187"/>
            <a:ext cx="593549" cy="572774"/>
          </a:xfrm>
          <a:custGeom>
            <a:avLst/>
            <a:gdLst/>
            <a:ahLst/>
            <a:cxnLst/>
            <a:rect l="l" t="t" r="r" b="b"/>
            <a:pathLst>
              <a:path w="593549" h="572774">
                <a:moveTo>
                  <a:pt x="0" y="0"/>
                </a:moveTo>
                <a:lnTo>
                  <a:pt x="593549" y="0"/>
                </a:lnTo>
                <a:lnTo>
                  <a:pt x="593549" y="572774"/>
                </a:lnTo>
                <a:lnTo>
                  <a:pt x="0" y="572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13563" y="5571536"/>
            <a:ext cx="527611" cy="522335"/>
          </a:xfrm>
          <a:custGeom>
            <a:avLst/>
            <a:gdLst/>
            <a:ahLst/>
            <a:cxnLst/>
            <a:rect l="l" t="t" r="r" b="b"/>
            <a:pathLst>
              <a:path w="527611" h="522335">
                <a:moveTo>
                  <a:pt x="0" y="0"/>
                </a:moveTo>
                <a:lnTo>
                  <a:pt x="527611" y="0"/>
                </a:lnTo>
                <a:lnTo>
                  <a:pt x="527611" y="522335"/>
                </a:lnTo>
                <a:lnTo>
                  <a:pt x="0" y="522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92511" y="3459391"/>
            <a:ext cx="769714" cy="769714"/>
          </a:xfrm>
          <a:custGeom>
            <a:avLst/>
            <a:gdLst/>
            <a:ahLst/>
            <a:cxnLst/>
            <a:rect l="l" t="t" r="r" b="b"/>
            <a:pathLst>
              <a:path w="769714" h="769714">
                <a:moveTo>
                  <a:pt x="0" y="0"/>
                </a:moveTo>
                <a:lnTo>
                  <a:pt x="769715" y="0"/>
                </a:lnTo>
                <a:lnTo>
                  <a:pt x="769715" y="769714"/>
                </a:lnTo>
                <a:lnTo>
                  <a:pt x="0" y="769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id="18" name="TextBox 18"/>
          <p:cNvSpPr txBox="1"/>
          <p:nvPr/>
        </p:nvSpPr>
        <p:spPr>
          <a:xfrm>
            <a:off x="2402260" y="4603480"/>
            <a:ext cx="5446031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K-Nearest Neighbours (KNN)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02260" y="5659031"/>
            <a:ext cx="5446031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02260" y="6615976"/>
            <a:ext cx="5446031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02260" y="7614376"/>
            <a:ext cx="5446031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2700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+ Logistic Regression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02260" y="8590371"/>
            <a:ext cx="5446031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Logistic Regression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01169" y="4483487"/>
            <a:ext cx="769714" cy="769714"/>
          </a:xfrm>
          <a:custGeom>
            <a:avLst/>
            <a:gdLst/>
            <a:ahLst/>
            <a:cxnLst/>
            <a:rect l="l" t="t" r="r" b="b"/>
            <a:pathLst>
              <a:path w="769714" h="769714">
                <a:moveTo>
                  <a:pt x="0" y="0"/>
                </a:moveTo>
                <a:lnTo>
                  <a:pt x="769715" y="0"/>
                </a:lnTo>
                <a:lnTo>
                  <a:pt x="769715" y="769714"/>
                </a:lnTo>
                <a:lnTo>
                  <a:pt x="0" y="769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id="24" name="Freeform 24"/>
          <p:cNvSpPr/>
          <p:nvPr/>
        </p:nvSpPr>
        <p:spPr>
          <a:xfrm>
            <a:off x="1401169" y="5492202"/>
            <a:ext cx="769714" cy="769714"/>
          </a:xfrm>
          <a:custGeom>
            <a:avLst/>
            <a:gdLst/>
            <a:ahLst/>
            <a:cxnLst/>
            <a:rect l="l" t="t" r="r" b="b"/>
            <a:pathLst>
              <a:path w="769714" h="769714">
                <a:moveTo>
                  <a:pt x="0" y="0"/>
                </a:moveTo>
                <a:lnTo>
                  <a:pt x="769715" y="0"/>
                </a:lnTo>
                <a:lnTo>
                  <a:pt x="769715" y="769714"/>
                </a:lnTo>
                <a:lnTo>
                  <a:pt x="0" y="769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id="25" name="Freeform 25"/>
          <p:cNvSpPr/>
          <p:nvPr/>
        </p:nvSpPr>
        <p:spPr>
          <a:xfrm>
            <a:off x="1401169" y="6484297"/>
            <a:ext cx="769714" cy="769714"/>
          </a:xfrm>
          <a:custGeom>
            <a:avLst/>
            <a:gdLst/>
            <a:ahLst/>
            <a:cxnLst/>
            <a:rect l="l" t="t" r="r" b="b"/>
            <a:pathLst>
              <a:path w="769714" h="769714">
                <a:moveTo>
                  <a:pt x="0" y="0"/>
                </a:moveTo>
                <a:lnTo>
                  <a:pt x="769715" y="0"/>
                </a:lnTo>
                <a:lnTo>
                  <a:pt x="769715" y="769715"/>
                </a:lnTo>
                <a:lnTo>
                  <a:pt x="0" y="769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id="26" name="Freeform 26"/>
          <p:cNvSpPr/>
          <p:nvPr/>
        </p:nvSpPr>
        <p:spPr>
          <a:xfrm>
            <a:off x="1401169" y="7412717"/>
            <a:ext cx="769714" cy="769714"/>
          </a:xfrm>
          <a:custGeom>
            <a:avLst/>
            <a:gdLst/>
            <a:ahLst/>
            <a:cxnLst/>
            <a:rect l="l" t="t" r="r" b="b"/>
            <a:pathLst>
              <a:path w="769714" h="769714">
                <a:moveTo>
                  <a:pt x="0" y="0"/>
                </a:moveTo>
                <a:lnTo>
                  <a:pt x="769715" y="0"/>
                </a:lnTo>
                <a:lnTo>
                  <a:pt x="769715" y="769714"/>
                </a:lnTo>
                <a:lnTo>
                  <a:pt x="0" y="769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id="27" name="Freeform 27"/>
          <p:cNvSpPr/>
          <p:nvPr/>
        </p:nvSpPr>
        <p:spPr>
          <a:xfrm>
            <a:off x="1460187" y="8340582"/>
            <a:ext cx="769714" cy="769714"/>
          </a:xfrm>
          <a:custGeom>
            <a:avLst/>
            <a:gdLst/>
            <a:ahLst/>
            <a:cxnLst/>
            <a:rect l="l" t="t" r="r" b="b"/>
            <a:pathLst>
              <a:path w="769714" h="769714">
                <a:moveTo>
                  <a:pt x="0" y="0"/>
                </a:moveTo>
                <a:lnTo>
                  <a:pt x="769714" y="0"/>
                </a:lnTo>
                <a:lnTo>
                  <a:pt x="769714" y="769714"/>
                </a:lnTo>
                <a:lnTo>
                  <a:pt x="0" y="769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id="28" name="Group 28"/>
          <p:cNvGrpSpPr/>
          <p:nvPr/>
        </p:nvGrpSpPr>
        <p:grpSpPr>
          <a:xfrm>
            <a:off x="7333293" y="2751455"/>
            <a:ext cx="5940566" cy="6784906"/>
            <a:chOff x="0" y="0"/>
            <a:chExt cx="1564593" cy="178697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64593" cy="1786971"/>
            </a:xfrm>
            <a:custGeom>
              <a:avLst/>
              <a:gdLst/>
              <a:ahLst/>
              <a:cxnLst/>
              <a:rect l="l" t="t" r="r" b="b"/>
              <a:pathLst>
                <a:path w="1564593" h="1786971">
                  <a:moveTo>
                    <a:pt x="27368" y="0"/>
                  </a:moveTo>
                  <a:lnTo>
                    <a:pt x="1537226" y="0"/>
                  </a:lnTo>
                  <a:cubicBezTo>
                    <a:pt x="1552340" y="0"/>
                    <a:pt x="1564593" y="12253"/>
                    <a:pt x="1564593" y="27368"/>
                  </a:cubicBezTo>
                  <a:lnTo>
                    <a:pt x="1564593" y="1759603"/>
                  </a:lnTo>
                  <a:cubicBezTo>
                    <a:pt x="1564593" y="1774718"/>
                    <a:pt x="1552340" y="1786971"/>
                    <a:pt x="1537226" y="1786971"/>
                  </a:cubicBezTo>
                  <a:lnTo>
                    <a:pt x="27368" y="1786971"/>
                  </a:lnTo>
                  <a:cubicBezTo>
                    <a:pt x="12253" y="1786971"/>
                    <a:pt x="0" y="1774718"/>
                    <a:pt x="0" y="1759603"/>
                  </a:cubicBezTo>
                  <a:lnTo>
                    <a:pt x="0" y="27368"/>
                  </a:lnTo>
                  <a:cubicBezTo>
                    <a:pt x="0" y="12253"/>
                    <a:pt x="12253" y="0"/>
                    <a:pt x="27368" y="0"/>
                  </a:cubicBezTo>
                  <a:close/>
                </a:path>
              </a:pathLst>
            </a:custGeom>
            <a:solidFill>
              <a:srgbClr val="E7F9FF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564593" cy="1825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595602" y="2962145"/>
            <a:ext cx="3415946" cy="858062"/>
            <a:chOff x="0" y="0"/>
            <a:chExt cx="899673" cy="2259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99673" cy="225992"/>
            </a:xfrm>
            <a:custGeom>
              <a:avLst/>
              <a:gdLst/>
              <a:ahLst/>
              <a:cxnLst/>
              <a:rect l="l" t="t" r="r" b="b"/>
              <a:pathLst>
                <a:path w="899673" h="225992">
                  <a:moveTo>
                    <a:pt x="58927" y="0"/>
                  </a:moveTo>
                  <a:lnTo>
                    <a:pt x="840747" y="0"/>
                  </a:lnTo>
                  <a:cubicBezTo>
                    <a:pt x="856375" y="0"/>
                    <a:pt x="871363" y="6208"/>
                    <a:pt x="882414" y="17259"/>
                  </a:cubicBezTo>
                  <a:cubicBezTo>
                    <a:pt x="893465" y="28310"/>
                    <a:pt x="899673" y="43298"/>
                    <a:pt x="899673" y="58927"/>
                  </a:cubicBezTo>
                  <a:lnTo>
                    <a:pt x="899673" y="167065"/>
                  </a:lnTo>
                  <a:cubicBezTo>
                    <a:pt x="899673" y="182693"/>
                    <a:pt x="893465" y="197682"/>
                    <a:pt x="882414" y="208733"/>
                  </a:cubicBezTo>
                  <a:cubicBezTo>
                    <a:pt x="871363" y="219783"/>
                    <a:pt x="856375" y="225992"/>
                    <a:pt x="840747" y="225992"/>
                  </a:cubicBezTo>
                  <a:lnTo>
                    <a:pt x="58927" y="225992"/>
                  </a:lnTo>
                  <a:cubicBezTo>
                    <a:pt x="43298" y="225992"/>
                    <a:pt x="28310" y="219783"/>
                    <a:pt x="17259" y="208733"/>
                  </a:cubicBezTo>
                  <a:cubicBezTo>
                    <a:pt x="6208" y="197682"/>
                    <a:pt x="0" y="182693"/>
                    <a:pt x="0" y="167065"/>
                  </a:cubicBezTo>
                  <a:lnTo>
                    <a:pt x="0" y="58927"/>
                  </a:lnTo>
                  <a:cubicBezTo>
                    <a:pt x="0" y="43298"/>
                    <a:pt x="6208" y="28310"/>
                    <a:pt x="17259" y="17259"/>
                  </a:cubicBezTo>
                  <a:cubicBezTo>
                    <a:pt x="28310" y="6208"/>
                    <a:pt x="43298" y="0"/>
                    <a:pt x="58927" y="0"/>
                  </a:cubicBezTo>
                  <a:close/>
                </a:path>
              </a:pathLst>
            </a:custGeom>
            <a:solidFill>
              <a:srgbClr val="043C70"/>
            </a:solidFill>
            <a:ln w="38100" cap="rnd">
              <a:solidFill>
                <a:srgbClr val="1C3F60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99673" cy="264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88182" y="3769651"/>
            <a:ext cx="5430787" cy="2374257"/>
            <a:chOff x="0" y="0"/>
            <a:chExt cx="1430331" cy="6253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30331" cy="625319"/>
            </a:xfrm>
            <a:custGeom>
              <a:avLst/>
              <a:gdLst/>
              <a:ahLst/>
              <a:cxnLst/>
              <a:rect l="l" t="t" r="r" b="b"/>
              <a:pathLst>
                <a:path w="1430331" h="625319">
                  <a:moveTo>
                    <a:pt x="37065" y="0"/>
                  </a:moveTo>
                  <a:lnTo>
                    <a:pt x="1393266" y="0"/>
                  </a:lnTo>
                  <a:cubicBezTo>
                    <a:pt x="1403096" y="0"/>
                    <a:pt x="1412524" y="3905"/>
                    <a:pt x="1419475" y="10856"/>
                  </a:cubicBezTo>
                  <a:cubicBezTo>
                    <a:pt x="1426426" y="17807"/>
                    <a:pt x="1430331" y="27234"/>
                    <a:pt x="1430331" y="37065"/>
                  </a:cubicBezTo>
                  <a:lnTo>
                    <a:pt x="1430331" y="588254"/>
                  </a:lnTo>
                  <a:cubicBezTo>
                    <a:pt x="1430331" y="598084"/>
                    <a:pt x="1426426" y="607512"/>
                    <a:pt x="1419475" y="614463"/>
                  </a:cubicBezTo>
                  <a:cubicBezTo>
                    <a:pt x="1412524" y="621414"/>
                    <a:pt x="1403096" y="625319"/>
                    <a:pt x="1393266" y="625319"/>
                  </a:cubicBezTo>
                  <a:lnTo>
                    <a:pt x="37065" y="625319"/>
                  </a:lnTo>
                  <a:cubicBezTo>
                    <a:pt x="27234" y="625319"/>
                    <a:pt x="17807" y="621414"/>
                    <a:pt x="10856" y="614463"/>
                  </a:cubicBezTo>
                  <a:cubicBezTo>
                    <a:pt x="3905" y="607512"/>
                    <a:pt x="0" y="598084"/>
                    <a:pt x="0" y="588254"/>
                  </a:cubicBezTo>
                  <a:lnTo>
                    <a:pt x="0" y="37065"/>
                  </a:lnTo>
                  <a:cubicBezTo>
                    <a:pt x="0" y="27234"/>
                    <a:pt x="3905" y="17807"/>
                    <a:pt x="10856" y="10856"/>
                  </a:cubicBezTo>
                  <a:cubicBezTo>
                    <a:pt x="17807" y="3905"/>
                    <a:pt x="27234" y="0"/>
                    <a:pt x="3706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430331" cy="663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88182" y="6810438"/>
            <a:ext cx="5430787" cy="2447862"/>
            <a:chOff x="0" y="0"/>
            <a:chExt cx="1430331" cy="64470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30331" cy="644704"/>
            </a:xfrm>
            <a:custGeom>
              <a:avLst/>
              <a:gdLst/>
              <a:ahLst/>
              <a:cxnLst/>
              <a:rect l="l" t="t" r="r" b="b"/>
              <a:pathLst>
                <a:path w="1430331" h="644704">
                  <a:moveTo>
                    <a:pt x="37065" y="0"/>
                  </a:moveTo>
                  <a:lnTo>
                    <a:pt x="1393266" y="0"/>
                  </a:lnTo>
                  <a:cubicBezTo>
                    <a:pt x="1403096" y="0"/>
                    <a:pt x="1412524" y="3905"/>
                    <a:pt x="1419475" y="10856"/>
                  </a:cubicBezTo>
                  <a:cubicBezTo>
                    <a:pt x="1426426" y="17807"/>
                    <a:pt x="1430331" y="27234"/>
                    <a:pt x="1430331" y="37065"/>
                  </a:cubicBezTo>
                  <a:lnTo>
                    <a:pt x="1430331" y="607640"/>
                  </a:lnTo>
                  <a:cubicBezTo>
                    <a:pt x="1430331" y="617470"/>
                    <a:pt x="1426426" y="626897"/>
                    <a:pt x="1419475" y="633848"/>
                  </a:cubicBezTo>
                  <a:cubicBezTo>
                    <a:pt x="1412524" y="640799"/>
                    <a:pt x="1403096" y="644704"/>
                    <a:pt x="1393266" y="644704"/>
                  </a:cubicBezTo>
                  <a:lnTo>
                    <a:pt x="37065" y="644704"/>
                  </a:lnTo>
                  <a:cubicBezTo>
                    <a:pt x="27234" y="644704"/>
                    <a:pt x="17807" y="640799"/>
                    <a:pt x="10856" y="633848"/>
                  </a:cubicBezTo>
                  <a:cubicBezTo>
                    <a:pt x="3905" y="626897"/>
                    <a:pt x="0" y="617470"/>
                    <a:pt x="0" y="607640"/>
                  </a:cubicBezTo>
                  <a:lnTo>
                    <a:pt x="0" y="37065"/>
                  </a:lnTo>
                  <a:cubicBezTo>
                    <a:pt x="0" y="27234"/>
                    <a:pt x="3905" y="17807"/>
                    <a:pt x="10856" y="10856"/>
                  </a:cubicBezTo>
                  <a:cubicBezTo>
                    <a:pt x="17807" y="3905"/>
                    <a:pt x="27234" y="0"/>
                    <a:pt x="3706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430331" cy="682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595602" y="6265981"/>
            <a:ext cx="3639899" cy="603173"/>
            <a:chOff x="0" y="0"/>
            <a:chExt cx="958656" cy="1588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58656" cy="158860"/>
            </a:xfrm>
            <a:custGeom>
              <a:avLst/>
              <a:gdLst/>
              <a:ahLst/>
              <a:cxnLst/>
              <a:rect l="l" t="t" r="r" b="b"/>
              <a:pathLst>
                <a:path w="958656" h="158860">
                  <a:moveTo>
                    <a:pt x="36158" y="0"/>
                  </a:moveTo>
                  <a:lnTo>
                    <a:pt x="922498" y="0"/>
                  </a:lnTo>
                  <a:cubicBezTo>
                    <a:pt x="932088" y="0"/>
                    <a:pt x="941285" y="3810"/>
                    <a:pt x="948066" y="10591"/>
                  </a:cubicBezTo>
                  <a:cubicBezTo>
                    <a:pt x="954847" y="17372"/>
                    <a:pt x="958656" y="26569"/>
                    <a:pt x="958656" y="36158"/>
                  </a:cubicBezTo>
                  <a:lnTo>
                    <a:pt x="958656" y="122702"/>
                  </a:lnTo>
                  <a:cubicBezTo>
                    <a:pt x="958656" y="132292"/>
                    <a:pt x="954847" y="141489"/>
                    <a:pt x="948066" y="148270"/>
                  </a:cubicBezTo>
                  <a:cubicBezTo>
                    <a:pt x="941285" y="155051"/>
                    <a:pt x="932088" y="158860"/>
                    <a:pt x="922498" y="158860"/>
                  </a:cubicBezTo>
                  <a:lnTo>
                    <a:pt x="36158" y="158860"/>
                  </a:lnTo>
                  <a:cubicBezTo>
                    <a:pt x="26569" y="158860"/>
                    <a:pt x="17372" y="155051"/>
                    <a:pt x="10591" y="148270"/>
                  </a:cubicBezTo>
                  <a:cubicBezTo>
                    <a:pt x="3810" y="141489"/>
                    <a:pt x="0" y="132292"/>
                    <a:pt x="0" y="122702"/>
                  </a:cubicBezTo>
                  <a:lnTo>
                    <a:pt x="0" y="36158"/>
                  </a:lnTo>
                  <a:cubicBezTo>
                    <a:pt x="0" y="26569"/>
                    <a:pt x="3810" y="17372"/>
                    <a:pt x="10591" y="10591"/>
                  </a:cubicBezTo>
                  <a:cubicBezTo>
                    <a:pt x="17372" y="3810"/>
                    <a:pt x="26569" y="0"/>
                    <a:pt x="36158" y="0"/>
                  </a:cubicBezTo>
                  <a:close/>
                </a:path>
              </a:pathLst>
            </a:custGeom>
            <a:solidFill>
              <a:srgbClr val="043C70"/>
            </a:solidFill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58656" cy="196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8086417" y="4031980"/>
            <a:ext cx="573014" cy="573014"/>
          </a:xfrm>
          <a:custGeom>
            <a:avLst/>
            <a:gdLst/>
            <a:ahLst/>
            <a:cxnLst/>
            <a:rect l="l" t="t" r="r" b="b"/>
            <a:pathLst>
              <a:path w="573014" h="573014">
                <a:moveTo>
                  <a:pt x="0" y="0"/>
                </a:moveTo>
                <a:lnTo>
                  <a:pt x="573013" y="0"/>
                </a:lnTo>
                <a:lnTo>
                  <a:pt x="573013" y="573014"/>
                </a:lnTo>
                <a:lnTo>
                  <a:pt x="0" y="573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937961" y="3978496"/>
            <a:ext cx="586884" cy="586884"/>
          </a:xfrm>
          <a:custGeom>
            <a:avLst/>
            <a:gdLst/>
            <a:ahLst/>
            <a:cxnLst/>
            <a:rect l="l" t="t" r="r" b="b"/>
            <a:pathLst>
              <a:path w="586884" h="586884">
                <a:moveTo>
                  <a:pt x="0" y="0"/>
                </a:moveTo>
                <a:lnTo>
                  <a:pt x="586884" y="0"/>
                </a:lnTo>
                <a:lnTo>
                  <a:pt x="586884" y="586884"/>
                </a:lnTo>
                <a:lnTo>
                  <a:pt x="0" y="586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1899781" y="4080061"/>
            <a:ext cx="416346" cy="574270"/>
          </a:xfrm>
          <a:custGeom>
            <a:avLst/>
            <a:gdLst/>
            <a:ahLst/>
            <a:cxnLst/>
            <a:rect l="l" t="t" r="r" b="b"/>
            <a:pathLst>
              <a:path w="416346" h="574270">
                <a:moveTo>
                  <a:pt x="0" y="0"/>
                </a:moveTo>
                <a:lnTo>
                  <a:pt x="416346" y="0"/>
                </a:lnTo>
                <a:lnTo>
                  <a:pt x="416346" y="574270"/>
                </a:lnTo>
                <a:lnTo>
                  <a:pt x="0" y="574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8989767" y="5143500"/>
            <a:ext cx="516026" cy="455951"/>
          </a:xfrm>
          <a:custGeom>
            <a:avLst/>
            <a:gdLst/>
            <a:ahLst/>
            <a:cxnLst/>
            <a:rect l="l" t="t" r="r" b="b"/>
            <a:pathLst>
              <a:path w="540185" h="540185">
                <a:moveTo>
                  <a:pt x="0" y="0"/>
                </a:moveTo>
                <a:lnTo>
                  <a:pt x="540185" y="0"/>
                </a:lnTo>
                <a:lnTo>
                  <a:pt x="540185" y="540185"/>
                </a:lnTo>
                <a:lnTo>
                  <a:pt x="0" y="5401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w="47625" cap="rnd">
            <a:solidFill>
              <a:srgbClr val="043C70"/>
            </a:solidFill>
            <a:prstDash val="solid"/>
            <a:round/>
          </a:ln>
        </p:spPr>
      </p:sp>
      <p:sp>
        <p:nvSpPr>
          <p:cNvPr id="47" name="Freeform 47"/>
          <p:cNvSpPr/>
          <p:nvPr/>
        </p:nvSpPr>
        <p:spPr>
          <a:xfrm>
            <a:off x="10968522" y="5102312"/>
            <a:ext cx="516026" cy="518619"/>
          </a:xfrm>
          <a:custGeom>
            <a:avLst/>
            <a:gdLst/>
            <a:ahLst/>
            <a:cxnLst/>
            <a:rect l="l" t="t" r="r" b="b"/>
            <a:pathLst>
              <a:path w="516026" h="518619">
                <a:moveTo>
                  <a:pt x="0" y="0"/>
                </a:moveTo>
                <a:lnTo>
                  <a:pt x="516026" y="0"/>
                </a:lnTo>
                <a:lnTo>
                  <a:pt x="516026" y="518619"/>
                </a:lnTo>
                <a:lnTo>
                  <a:pt x="0" y="518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8149319" y="7107798"/>
            <a:ext cx="693653" cy="693653"/>
          </a:xfrm>
          <a:custGeom>
            <a:avLst/>
            <a:gdLst/>
            <a:ahLst/>
            <a:cxnLst/>
            <a:rect l="l" t="t" r="r" b="b"/>
            <a:pathLst>
              <a:path w="693653" h="693653">
                <a:moveTo>
                  <a:pt x="0" y="0"/>
                </a:moveTo>
                <a:lnTo>
                  <a:pt x="693653" y="0"/>
                </a:lnTo>
                <a:lnTo>
                  <a:pt x="693653" y="693653"/>
                </a:lnTo>
                <a:lnTo>
                  <a:pt x="0" y="6936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8221642" y="8204799"/>
            <a:ext cx="549007" cy="694945"/>
          </a:xfrm>
          <a:custGeom>
            <a:avLst/>
            <a:gdLst/>
            <a:ahLst/>
            <a:cxnLst/>
            <a:rect l="l" t="t" r="r" b="b"/>
            <a:pathLst>
              <a:path w="549007" h="694945">
                <a:moveTo>
                  <a:pt x="0" y="0"/>
                </a:moveTo>
                <a:lnTo>
                  <a:pt x="549007" y="0"/>
                </a:lnTo>
                <a:lnTo>
                  <a:pt x="549007" y="694945"/>
                </a:lnTo>
                <a:lnTo>
                  <a:pt x="0" y="694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13769158" y="3936824"/>
            <a:ext cx="3891038" cy="4788615"/>
            <a:chOff x="0" y="0"/>
            <a:chExt cx="1024800" cy="126119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4800" cy="1261199"/>
            </a:xfrm>
            <a:custGeom>
              <a:avLst/>
              <a:gdLst/>
              <a:ahLst/>
              <a:cxnLst/>
              <a:rect l="l" t="t" r="r" b="b"/>
              <a:pathLst>
                <a:path w="1024800" h="1261199">
                  <a:moveTo>
                    <a:pt x="51732" y="0"/>
                  </a:moveTo>
                  <a:lnTo>
                    <a:pt x="973069" y="0"/>
                  </a:lnTo>
                  <a:cubicBezTo>
                    <a:pt x="1001639" y="0"/>
                    <a:pt x="1024800" y="23161"/>
                    <a:pt x="1024800" y="51732"/>
                  </a:cubicBezTo>
                  <a:lnTo>
                    <a:pt x="1024800" y="1209467"/>
                  </a:lnTo>
                  <a:cubicBezTo>
                    <a:pt x="1024800" y="1223187"/>
                    <a:pt x="1019350" y="1236346"/>
                    <a:pt x="1009648" y="1246047"/>
                  </a:cubicBezTo>
                  <a:cubicBezTo>
                    <a:pt x="999947" y="1255749"/>
                    <a:pt x="986789" y="1261199"/>
                    <a:pt x="973069" y="1261199"/>
                  </a:cubicBezTo>
                  <a:lnTo>
                    <a:pt x="51732" y="1261199"/>
                  </a:lnTo>
                  <a:cubicBezTo>
                    <a:pt x="23161" y="1261199"/>
                    <a:pt x="0" y="1238038"/>
                    <a:pt x="0" y="1209467"/>
                  </a:cubicBezTo>
                  <a:lnTo>
                    <a:pt x="0" y="51732"/>
                  </a:lnTo>
                  <a:cubicBezTo>
                    <a:pt x="0" y="23161"/>
                    <a:pt x="23161" y="0"/>
                    <a:pt x="51732" y="0"/>
                  </a:cubicBezTo>
                  <a:close/>
                </a:path>
              </a:pathLst>
            </a:custGeom>
            <a:solidFill>
              <a:srgbClr val="F5FDFF"/>
            </a:solidFill>
            <a:ln w="38100" cap="rnd">
              <a:solidFill>
                <a:srgbClr val="1B7895"/>
              </a:solidFill>
              <a:prstDash val="solid"/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024800" cy="1299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411911" y="3602949"/>
            <a:ext cx="2605533" cy="626156"/>
            <a:chOff x="0" y="0"/>
            <a:chExt cx="686231" cy="16491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86231" cy="164914"/>
            </a:xfrm>
            <a:custGeom>
              <a:avLst/>
              <a:gdLst/>
              <a:ahLst/>
              <a:cxnLst/>
              <a:rect l="l" t="t" r="r" b="b"/>
              <a:pathLst>
                <a:path w="686231" h="164914">
                  <a:moveTo>
                    <a:pt x="38627" y="0"/>
                  </a:moveTo>
                  <a:lnTo>
                    <a:pt x="647603" y="0"/>
                  </a:lnTo>
                  <a:cubicBezTo>
                    <a:pt x="668937" y="0"/>
                    <a:pt x="686231" y="17294"/>
                    <a:pt x="686231" y="38627"/>
                  </a:cubicBezTo>
                  <a:lnTo>
                    <a:pt x="686231" y="126286"/>
                  </a:lnTo>
                  <a:cubicBezTo>
                    <a:pt x="686231" y="147620"/>
                    <a:pt x="668937" y="164914"/>
                    <a:pt x="647603" y="164914"/>
                  </a:cubicBezTo>
                  <a:lnTo>
                    <a:pt x="38627" y="164914"/>
                  </a:lnTo>
                  <a:cubicBezTo>
                    <a:pt x="17294" y="164914"/>
                    <a:pt x="0" y="147620"/>
                    <a:pt x="0" y="126286"/>
                  </a:cubicBezTo>
                  <a:lnTo>
                    <a:pt x="0" y="38627"/>
                  </a:lnTo>
                  <a:cubicBezTo>
                    <a:pt x="0" y="17294"/>
                    <a:pt x="17294" y="0"/>
                    <a:pt x="38627" y="0"/>
                  </a:cubicBezTo>
                  <a:close/>
                </a:path>
              </a:pathLst>
            </a:custGeom>
            <a:solidFill>
              <a:srgbClr val="043C70"/>
            </a:solidFill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686231" cy="203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Freeform 56"/>
          <p:cNvSpPr/>
          <p:nvPr/>
        </p:nvSpPr>
        <p:spPr>
          <a:xfrm>
            <a:off x="15175336" y="4542248"/>
            <a:ext cx="1078683" cy="1078683"/>
          </a:xfrm>
          <a:custGeom>
            <a:avLst/>
            <a:gdLst/>
            <a:ahLst/>
            <a:cxnLst/>
            <a:rect l="l" t="t" r="r" b="b"/>
            <a:pathLst>
              <a:path w="1078683" h="1078683">
                <a:moveTo>
                  <a:pt x="0" y="0"/>
                </a:moveTo>
                <a:lnTo>
                  <a:pt x="1078682" y="0"/>
                </a:lnTo>
                <a:lnTo>
                  <a:pt x="1078682" y="1078683"/>
                </a:lnTo>
                <a:lnTo>
                  <a:pt x="0" y="1078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2595699" y="2584453"/>
            <a:ext cx="3029069" cy="43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Models Evaluated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402260" y="3646535"/>
            <a:ext cx="3035215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723259" y="3193617"/>
            <a:ext cx="3211673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Evaluation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659430" y="6390270"/>
            <a:ext cx="3512242" cy="383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272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Comparison &amp; Analysis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089999" y="5209927"/>
            <a:ext cx="41579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43C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844132" y="4695520"/>
            <a:ext cx="1057583" cy="297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  <a:spcBef>
                <a:spcPct val="0"/>
              </a:spcBef>
            </a:pPr>
            <a:r>
              <a:rPr lang="en-US" sz="2174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717644" y="4716913"/>
            <a:ext cx="1027517" cy="297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  <a:spcBef>
                <a:spcPct val="0"/>
              </a:spcBef>
            </a:pPr>
            <a:r>
              <a:rPr lang="en-US" sz="2174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755327" y="4733913"/>
            <a:ext cx="705255" cy="297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  <a:spcBef>
                <a:spcPct val="0"/>
              </a:spcBef>
            </a:pPr>
            <a:r>
              <a:rPr lang="en-US" sz="2174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723259" y="5742628"/>
            <a:ext cx="989288" cy="297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  <a:spcBef>
                <a:spcPct val="0"/>
              </a:spcBef>
            </a:pPr>
            <a:r>
              <a:rPr lang="en-US" sz="2174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637650" y="5786336"/>
            <a:ext cx="1301030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4"/>
              </a:lnSpc>
              <a:spcBef>
                <a:spcPct val="0"/>
              </a:spcBef>
            </a:pPr>
            <a:r>
              <a:rPr lang="en-US" sz="2074" dirty="0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ROC-AUC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144000" y="7135854"/>
            <a:ext cx="3489942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all models using evaluation metrics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089999" y="8083961"/>
            <a:ext cx="412985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 Tuning</a:t>
            </a:r>
          </a:p>
          <a:p>
            <a:pPr algn="l">
              <a:lnSpc>
                <a:spcPts val="2849"/>
              </a:lnSpc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GridSearchCV - 5-fold CV</a:t>
            </a:r>
          </a:p>
          <a:p>
            <a:pPr algn="l">
              <a:lnSpc>
                <a:spcPts val="2849"/>
              </a:lnSpc>
            </a:pPr>
            <a:r>
              <a:rPr lang="en-US" sz="24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Scoring: F1-score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692287" y="3740292"/>
            <a:ext cx="2044779" cy="43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Model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069619" y="6007233"/>
            <a:ext cx="3290117" cy="80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  <a:spcBef>
                <a:spcPct val="0"/>
              </a:spcBef>
            </a:pPr>
            <a:r>
              <a:rPr lang="en-US" sz="3016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Tuned Balanced Logistic Regression</a:t>
            </a:r>
          </a:p>
        </p:txBody>
      </p:sp>
      <p:sp>
        <p:nvSpPr>
          <p:cNvPr id="71" name="AutoShape 71"/>
          <p:cNvSpPr/>
          <p:nvPr/>
        </p:nvSpPr>
        <p:spPr>
          <a:xfrm>
            <a:off x="14355397" y="7001421"/>
            <a:ext cx="2718561" cy="0"/>
          </a:xfrm>
          <a:prstGeom prst="line">
            <a:avLst/>
          </a:prstGeom>
          <a:ln w="19050" cap="flat">
            <a:solidFill>
              <a:srgbClr val="0A4E53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" name="TextBox 72"/>
          <p:cNvSpPr txBox="1"/>
          <p:nvPr/>
        </p:nvSpPr>
        <p:spPr>
          <a:xfrm>
            <a:off x="14569258" y="7420521"/>
            <a:ext cx="2355294" cy="82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>
                <a:solidFill>
                  <a:srgbClr val="1C3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as the Final Model</a:t>
            </a:r>
          </a:p>
        </p:txBody>
      </p:sp>
      <p:sp>
        <p:nvSpPr>
          <p:cNvPr id="73" name="AutoShape 73"/>
          <p:cNvSpPr/>
          <p:nvPr/>
        </p:nvSpPr>
        <p:spPr>
          <a:xfrm>
            <a:off x="6895143" y="6162958"/>
            <a:ext cx="438150" cy="0"/>
          </a:xfrm>
          <a:prstGeom prst="line">
            <a:avLst/>
          </a:prstGeom>
          <a:ln w="38100" cap="flat">
            <a:solidFill>
              <a:srgbClr val="1C3F6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AutoShape 74"/>
          <p:cNvSpPr/>
          <p:nvPr/>
        </p:nvSpPr>
        <p:spPr>
          <a:xfrm>
            <a:off x="13219857" y="6182008"/>
            <a:ext cx="549301" cy="0"/>
          </a:xfrm>
          <a:prstGeom prst="line">
            <a:avLst/>
          </a:prstGeom>
          <a:ln w="38100" cap="flat">
            <a:solidFill>
              <a:srgbClr val="1C3F6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148A2A39-3804-8CEE-AD00-7197E8C1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</p:sp>
      <p:graphicFrame>
        <p:nvGraphicFramePr>
          <p:cNvPr id="3" name="Object 3"/>
          <p:cNvGraphicFramePr/>
          <p:nvPr/>
        </p:nvGraphicFramePr>
        <p:xfrm>
          <a:off x="864558" y="2211777"/>
          <a:ext cx="9429750" cy="5943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315700" imgH="7823200" progId="Excel.Sheet.12">
                  <p:embed/>
                </p:oleObj>
              </mc:Choice>
              <mc:Fallback>
                <p:oleObj name="Worksheet" r:id="rId3" imgW="11315700" imgH="7823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4558" y="2211777"/>
                        <a:ext cx="9429750" cy="5943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5"/>
          <p:cNvSpPr/>
          <p:nvPr/>
        </p:nvSpPr>
        <p:spPr>
          <a:xfrm flipV="1">
            <a:off x="1028700" y="1797054"/>
            <a:ext cx="12624218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697566" y="2161198"/>
            <a:ext cx="7910704" cy="3910854"/>
          </a:xfrm>
          <a:custGeom>
            <a:avLst/>
            <a:gdLst/>
            <a:ahLst/>
            <a:cxnLst/>
            <a:rect l="l" t="t" r="r" b="b"/>
            <a:pathLst>
              <a:path w="7910704" h="3910854">
                <a:moveTo>
                  <a:pt x="0" y="0"/>
                </a:moveTo>
                <a:lnTo>
                  <a:pt x="7910704" y="0"/>
                </a:lnTo>
                <a:lnTo>
                  <a:pt x="7910704" y="3910854"/>
                </a:lnTo>
                <a:lnTo>
                  <a:pt x="0" y="3910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808836"/>
            <a:ext cx="12624218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Performance Comparison</a:t>
            </a: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3460416" y="4132173"/>
            <a:ext cx="3167531" cy="8359247"/>
            <a:chOff x="0" y="0"/>
            <a:chExt cx="834247" cy="22016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4247" cy="2201613"/>
            </a:xfrm>
            <a:custGeom>
              <a:avLst/>
              <a:gdLst/>
              <a:ahLst/>
              <a:cxnLst/>
              <a:rect l="l" t="t" r="r" b="b"/>
              <a:pathLst>
                <a:path w="834247" h="2201613">
                  <a:moveTo>
                    <a:pt x="63548" y="0"/>
                  </a:moveTo>
                  <a:lnTo>
                    <a:pt x="770699" y="0"/>
                  </a:lnTo>
                  <a:cubicBezTo>
                    <a:pt x="787553" y="0"/>
                    <a:pt x="803717" y="6695"/>
                    <a:pt x="815634" y="18613"/>
                  </a:cubicBezTo>
                  <a:cubicBezTo>
                    <a:pt x="827552" y="30530"/>
                    <a:pt x="834247" y="46694"/>
                    <a:pt x="834247" y="63548"/>
                  </a:cubicBezTo>
                  <a:lnTo>
                    <a:pt x="834247" y="2138065"/>
                  </a:lnTo>
                  <a:cubicBezTo>
                    <a:pt x="834247" y="2154919"/>
                    <a:pt x="827552" y="2171082"/>
                    <a:pt x="815634" y="2183000"/>
                  </a:cubicBezTo>
                  <a:cubicBezTo>
                    <a:pt x="803717" y="2194917"/>
                    <a:pt x="787553" y="2201613"/>
                    <a:pt x="770699" y="2201613"/>
                  </a:cubicBezTo>
                  <a:lnTo>
                    <a:pt x="63548" y="2201613"/>
                  </a:lnTo>
                  <a:cubicBezTo>
                    <a:pt x="46694" y="2201613"/>
                    <a:pt x="30530" y="2194917"/>
                    <a:pt x="18613" y="2183000"/>
                  </a:cubicBezTo>
                  <a:cubicBezTo>
                    <a:pt x="6695" y="2171082"/>
                    <a:pt x="0" y="2154919"/>
                    <a:pt x="0" y="2138065"/>
                  </a:cubicBezTo>
                  <a:lnTo>
                    <a:pt x="0" y="63548"/>
                  </a:lnTo>
                  <a:cubicBezTo>
                    <a:pt x="0" y="46694"/>
                    <a:pt x="6695" y="30530"/>
                    <a:pt x="18613" y="18613"/>
                  </a:cubicBezTo>
                  <a:cubicBezTo>
                    <a:pt x="30530" y="6695"/>
                    <a:pt x="46694" y="0"/>
                    <a:pt x="63548" y="0"/>
                  </a:cubicBezTo>
                  <a:close/>
                </a:path>
              </a:pathLst>
            </a:custGeom>
            <a:solidFill>
              <a:srgbClr val="F5FDFF"/>
            </a:solidFill>
            <a:ln w="38100" cap="rnd">
              <a:solidFill>
                <a:srgbClr val="1B7895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34247" cy="2239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84753" y="7662830"/>
            <a:ext cx="8439053" cy="20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4107"/>
              </a:lnSpc>
              <a:buFont typeface="Arial"/>
              <a:buChar char="•"/>
            </a:pPr>
            <a:r>
              <a:rPr lang="en-US" sz="25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 but</a:t>
            </a:r>
            <a:r>
              <a:rPr lang="en-US" sz="2599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very low recall </a:t>
            </a:r>
            <a:r>
              <a:rPr lang="en-US" sz="25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conventional models.</a:t>
            </a:r>
          </a:p>
          <a:p>
            <a:pPr marL="561339" lvl="1" indent="-280669" algn="l">
              <a:lnSpc>
                <a:spcPts val="4107"/>
              </a:lnSpc>
              <a:buFont typeface="Arial"/>
              <a:buChar char="•"/>
            </a:pPr>
            <a:r>
              <a:rPr lang="en-US" sz="25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+ LR improved recall to 38%.</a:t>
            </a:r>
          </a:p>
          <a:p>
            <a:pPr marL="561339" lvl="1" indent="-280669" algn="l">
              <a:lnSpc>
                <a:spcPts val="4107"/>
              </a:lnSpc>
              <a:buFont typeface="Arial"/>
              <a:buChar char="•"/>
            </a:pPr>
            <a:r>
              <a:rPr lang="en-US" sz="25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LR achieved the highest recall: </a:t>
            </a:r>
            <a:r>
              <a:rPr lang="en-US" sz="2599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80%</a:t>
            </a:r>
            <a:r>
              <a:rPr lang="en-US" sz="25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61339" lvl="1" indent="-280669" algn="l">
              <a:lnSpc>
                <a:spcPts val="4107"/>
              </a:lnSpc>
              <a:buFont typeface="Arial"/>
              <a:buChar char="•"/>
            </a:pPr>
            <a:r>
              <a:rPr lang="en-US" sz="2599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Recall is more important than accuracy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392797" y="7071061"/>
            <a:ext cx="8279442" cy="467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2898A7-E792-3104-48C2-019EB30BA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246" y="6221020"/>
            <a:ext cx="7303857" cy="3708406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A9DF71A-D8C9-B21F-0C83-B66E8DB5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3180590" y="2486178"/>
          <a:ext cx="3771900" cy="3828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33900" imgH="4584700" progId="Excel.Sheet.12">
                  <p:embed/>
                </p:oleObj>
              </mc:Choice>
              <mc:Fallback>
                <p:oleObj name="Worksheet" r:id="rId2" imgW="4533900" imgH="4584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80590" y="2486178"/>
                        <a:ext cx="3771900" cy="3828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3"/>
          <p:cNvSpPr/>
          <p:nvPr/>
        </p:nvSpPr>
        <p:spPr>
          <a:xfrm>
            <a:off x="0" y="2957460"/>
            <a:ext cx="1028700" cy="4346038"/>
          </a:xfrm>
          <a:custGeom>
            <a:avLst/>
            <a:gdLst/>
            <a:ahLst/>
            <a:cxnLst/>
            <a:rect l="l" t="t" r="r" b="b"/>
            <a:pathLst>
              <a:path w="2531471" h="4346038">
                <a:moveTo>
                  <a:pt x="0" y="4346038"/>
                </a:moveTo>
                <a:lnTo>
                  <a:pt x="0" y="0"/>
                </a:lnTo>
                <a:lnTo>
                  <a:pt x="2531471" y="0"/>
                </a:lnTo>
                <a:lnTo>
                  <a:pt x="2531471" y="4346038"/>
                </a:lnTo>
                <a:lnTo>
                  <a:pt x="0" y="4346038"/>
                </a:lnTo>
                <a:close/>
              </a:path>
            </a:pathLst>
          </a:custGeom>
          <a:blipFill>
            <a:blip r:embed="rId4"/>
            <a:stretch>
              <a:fillRect l="-353843" t="-215272" r="-51531" b="-126557"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8019975" y="-8019974"/>
            <a:ext cx="2248052" cy="18288002"/>
          </a:xfrm>
          <a:custGeom>
            <a:avLst/>
            <a:gdLst/>
            <a:ahLst/>
            <a:cxnLst/>
            <a:rect l="l" t="t" r="r" b="b"/>
            <a:pathLst>
              <a:path w="2636246" h="19202109">
                <a:moveTo>
                  <a:pt x="0" y="19202109"/>
                </a:moveTo>
                <a:lnTo>
                  <a:pt x="0" y="0"/>
                </a:lnTo>
                <a:lnTo>
                  <a:pt x="2636247" y="0"/>
                </a:lnTo>
                <a:lnTo>
                  <a:pt x="2636247" y="19202109"/>
                </a:lnTo>
                <a:lnTo>
                  <a:pt x="0" y="19202109"/>
                </a:lnTo>
                <a:close/>
              </a:path>
            </a:pathLst>
          </a:custGeom>
          <a:blipFill>
            <a:blip r:embed="rId4"/>
            <a:stretch>
              <a:fillRect l="-339780" r="-45508"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028700" y="2032000"/>
            <a:ext cx="16571387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141241" y="5943539"/>
            <a:ext cx="2146759" cy="4343461"/>
          </a:xfrm>
          <a:custGeom>
            <a:avLst/>
            <a:gdLst/>
            <a:ahLst/>
            <a:cxnLst/>
            <a:rect l="l" t="t" r="r" b="b"/>
            <a:pathLst>
              <a:path w="2531471" h="8686923">
                <a:moveTo>
                  <a:pt x="0" y="8686922"/>
                </a:moveTo>
                <a:lnTo>
                  <a:pt x="0" y="0"/>
                </a:lnTo>
                <a:lnTo>
                  <a:pt x="2531471" y="0"/>
                </a:lnTo>
                <a:lnTo>
                  <a:pt x="2531471" y="8686922"/>
                </a:lnTo>
                <a:lnTo>
                  <a:pt x="0" y="8686922"/>
                </a:lnTo>
                <a:close/>
              </a:path>
            </a:pathLst>
          </a:custGeom>
          <a:blipFill>
            <a:blip r:embed="rId4"/>
            <a:stretch>
              <a:fillRect l="-353843" t="-76662" r="-51531" b="-4438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82230" y="2486178"/>
            <a:ext cx="6477070" cy="4817320"/>
          </a:xfrm>
          <a:custGeom>
            <a:avLst/>
            <a:gdLst/>
            <a:ahLst/>
            <a:cxnLst/>
            <a:rect l="l" t="t" r="r" b="b"/>
            <a:pathLst>
              <a:path w="6477070" h="4817320">
                <a:moveTo>
                  <a:pt x="0" y="0"/>
                </a:moveTo>
                <a:lnTo>
                  <a:pt x="6477070" y="0"/>
                </a:lnTo>
                <a:lnTo>
                  <a:pt x="6477070" y="4817320"/>
                </a:lnTo>
                <a:lnTo>
                  <a:pt x="0" y="48173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114425"/>
            <a:ext cx="16543416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sz="6500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Model Performance &amp; Confusion Matrix</a:t>
            </a: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4518177" y="4070934"/>
            <a:ext cx="2385602" cy="8512087"/>
            <a:chOff x="0" y="0"/>
            <a:chExt cx="628307" cy="22418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8307" cy="2241867"/>
            </a:xfrm>
            <a:custGeom>
              <a:avLst/>
              <a:gdLst/>
              <a:ahLst/>
              <a:cxnLst/>
              <a:rect l="l" t="t" r="r" b="b"/>
              <a:pathLst>
                <a:path w="628307" h="2241867">
                  <a:moveTo>
                    <a:pt x="48679" y="0"/>
                  </a:moveTo>
                  <a:lnTo>
                    <a:pt x="579628" y="0"/>
                  </a:lnTo>
                  <a:cubicBezTo>
                    <a:pt x="592538" y="0"/>
                    <a:pt x="604920" y="5129"/>
                    <a:pt x="614049" y="14258"/>
                  </a:cubicBezTo>
                  <a:cubicBezTo>
                    <a:pt x="623178" y="23387"/>
                    <a:pt x="628307" y="35769"/>
                    <a:pt x="628307" y="48679"/>
                  </a:cubicBezTo>
                  <a:lnTo>
                    <a:pt x="628307" y="2193188"/>
                  </a:lnTo>
                  <a:cubicBezTo>
                    <a:pt x="628307" y="2220072"/>
                    <a:pt x="606512" y="2241867"/>
                    <a:pt x="579628" y="2241867"/>
                  </a:cubicBezTo>
                  <a:lnTo>
                    <a:pt x="48679" y="2241867"/>
                  </a:lnTo>
                  <a:cubicBezTo>
                    <a:pt x="35769" y="2241867"/>
                    <a:pt x="23387" y="2236738"/>
                    <a:pt x="14258" y="2227609"/>
                  </a:cubicBezTo>
                  <a:cubicBezTo>
                    <a:pt x="5129" y="2218480"/>
                    <a:pt x="0" y="2206098"/>
                    <a:pt x="0" y="2193188"/>
                  </a:cubicBezTo>
                  <a:lnTo>
                    <a:pt x="0" y="48679"/>
                  </a:lnTo>
                  <a:cubicBezTo>
                    <a:pt x="0" y="35769"/>
                    <a:pt x="5129" y="23387"/>
                    <a:pt x="14258" y="14258"/>
                  </a:cubicBezTo>
                  <a:cubicBezTo>
                    <a:pt x="23387" y="5129"/>
                    <a:pt x="35769" y="0"/>
                    <a:pt x="48679" y="0"/>
                  </a:cubicBezTo>
                  <a:close/>
                </a:path>
              </a:pathLst>
            </a:custGeom>
            <a:solidFill>
              <a:srgbClr val="F5FDFF"/>
            </a:solidFill>
            <a:ln w="38100" cap="sq">
              <a:solidFill>
                <a:srgbClr val="1B7895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28307" cy="2279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89272" y="7394496"/>
            <a:ext cx="824341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= </a:t>
            </a:r>
            <a:r>
              <a:rPr lang="en-US" sz="2999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80% </a:t>
            </a:r>
            <a:r>
              <a:rPr lang="en-US" sz="29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strong detection of actual stroke cases</a:t>
            </a:r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1E5E87D7-4FCB-FB71-9D3F-CC47741C5BA2}"/>
              </a:ext>
            </a:extLst>
          </p:cNvPr>
          <p:cNvGrpSpPr/>
          <p:nvPr/>
        </p:nvGrpSpPr>
        <p:grpSpPr>
          <a:xfrm rot="-5400000">
            <a:off x="13618862" y="6612239"/>
            <a:ext cx="1143001" cy="2929922"/>
            <a:chOff x="0" y="0"/>
            <a:chExt cx="628307" cy="2241867"/>
          </a:xfrm>
        </p:grpSpPr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BBA4CCD8-2798-3D7E-4DFB-C575D9F02A46}"/>
                </a:ext>
              </a:extLst>
            </p:cNvPr>
            <p:cNvSpPr/>
            <p:nvPr/>
          </p:nvSpPr>
          <p:spPr>
            <a:xfrm>
              <a:off x="0" y="0"/>
              <a:ext cx="628307" cy="2241867"/>
            </a:xfrm>
            <a:custGeom>
              <a:avLst/>
              <a:gdLst/>
              <a:ahLst/>
              <a:cxnLst/>
              <a:rect l="l" t="t" r="r" b="b"/>
              <a:pathLst>
                <a:path w="628307" h="2241867">
                  <a:moveTo>
                    <a:pt x="48679" y="0"/>
                  </a:moveTo>
                  <a:lnTo>
                    <a:pt x="579628" y="0"/>
                  </a:lnTo>
                  <a:cubicBezTo>
                    <a:pt x="592538" y="0"/>
                    <a:pt x="604920" y="5129"/>
                    <a:pt x="614049" y="14258"/>
                  </a:cubicBezTo>
                  <a:cubicBezTo>
                    <a:pt x="623178" y="23387"/>
                    <a:pt x="628307" y="35769"/>
                    <a:pt x="628307" y="48679"/>
                  </a:cubicBezTo>
                  <a:lnTo>
                    <a:pt x="628307" y="2193188"/>
                  </a:lnTo>
                  <a:cubicBezTo>
                    <a:pt x="628307" y="2220072"/>
                    <a:pt x="606512" y="2241867"/>
                    <a:pt x="579628" y="2241867"/>
                  </a:cubicBezTo>
                  <a:lnTo>
                    <a:pt x="48679" y="2241867"/>
                  </a:lnTo>
                  <a:cubicBezTo>
                    <a:pt x="35769" y="2241867"/>
                    <a:pt x="23387" y="2236738"/>
                    <a:pt x="14258" y="2227609"/>
                  </a:cubicBezTo>
                  <a:cubicBezTo>
                    <a:pt x="5129" y="2218480"/>
                    <a:pt x="0" y="2206098"/>
                    <a:pt x="0" y="2193188"/>
                  </a:cubicBezTo>
                  <a:lnTo>
                    <a:pt x="0" y="48679"/>
                  </a:lnTo>
                  <a:cubicBezTo>
                    <a:pt x="0" y="35769"/>
                    <a:pt x="5129" y="23387"/>
                    <a:pt x="14258" y="14258"/>
                  </a:cubicBezTo>
                  <a:cubicBezTo>
                    <a:pt x="23387" y="5129"/>
                    <a:pt x="35769" y="0"/>
                    <a:pt x="48679" y="0"/>
                  </a:cubicBezTo>
                  <a:close/>
                </a:path>
              </a:pathLst>
            </a:custGeom>
            <a:solidFill>
              <a:srgbClr val="F5FDFF"/>
            </a:solidFill>
            <a:ln w="38100" cap="sq">
              <a:solidFill>
                <a:srgbClr val="1B7895"/>
              </a:solidFill>
              <a:prstDash val="solid"/>
              <a:miter/>
            </a:ln>
          </p:spPr>
        </p:sp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3ACA7DD5-2FEE-6C76-DEDD-AEFE8E832D7C}"/>
                </a:ext>
              </a:extLst>
            </p:cNvPr>
            <p:cNvSpPr txBox="1"/>
            <p:nvPr/>
          </p:nvSpPr>
          <p:spPr>
            <a:xfrm>
              <a:off x="0" y="-38100"/>
              <a:ext cx="628307" cy="2279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846497" y="7770223"/>
            <a:ext cx="2601007" cy="32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2353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TP = 40    | TN = 723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72733" y="8179767"/>
            <a:ext cx="2348536" cy="617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2353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FP = 249 | FN = 10</a:t>
            </a:r>
          </a:p>
          <a:p>
            <a:pPr algn="ctr">
              <a:lnSpc>
                <a:spcPts val="2353"/>
              </a:lnSpc>
              <a:spcBef>
                <a:spcPct val="0"/>
              </a:spcBef>
            </a:pPr>
            <a:endParaRPr lang="en-US" sz="2353" b="1">
              <a:solidFill>
                <a:srgbClr val="1C191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54934" y="8132612"/>
            <a:ext cx="8512087" cy="43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prioritizes detection of actual stroke cases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32676" y="8887627"/>
            <a:ext cx="615660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</a:t>
            </a:r>
            <a:r>
              <a:rPr lang="en-US" sz="2999" b="1">
                <a:solidFill>
                  <a:srgbClr val="1C191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 </a:t>
            </a:r>
            <a:r>
              <a:rPr lang="en-US" sz="2999">
                <a:solidFill>
                  <a:srgbClr val="1C19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stroke cases were missed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57011CD-03AB-15D0-4B5A-52488948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9222" r="-922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58306" y="2111375"/>
            <a:ext cx="11504550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039255" y="2546540"/>
            <a:ext cx="7321824" cy="5193919"/>
          </a:xfrm>
          <a:custGeom>
            <a:avLst/>
            <a:gdLst/>
            <a:ahLst/>
            <a:cxnLst/>
            <a:rect l="l" t="t" r="r" b="b"/>
            <a:pathLst>
              <a:path w="7321824" h="5193919">
                <a:moveTo>
                  <a:pt x="0" y="0"/>
                </a:moveTo>
                <a:lnTo>
                  <a:pt x="7321825" y="0"/>
                </a:lnTo>
                <a:lnTo>
                  <a:pt x="7321825" y="5193920"/>
                </a:lnTo>
                <a:lnTo>
                  <a:pt x="0" y="5193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1203C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1133475"/>
            <a:ext cx="11013877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ROC Curve &amp; AUC Analysis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8583228" y="2832862"/>
            <a:ext cx="1346005" cy="11504871"/>
            <a:chOff x="0" y="0"/>
            <a:chExt cx="354503" cy="3030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4503" cy="3030089"/>
            </a:xfrm>
            <a:custGeom>
              <a:avLst/>
              <a:gdLst/>
              <a:ahLst/>
              <a:cxnLst/>
              <a:rect l="l" t="t" r="r" b="b"/>
              <a:pathLst>
                <a:path w="354503" h="3030089">
                  <a:moveTo>
                    <a:pt x="86277" y="0"/>
                  </a:moveTo>
                  <a:lnTo>
                    <a:pt x="268227" y="0"/>
                  </a:lnTo>
                  <a:cubicBezTo>
                    <a:pt x="315876" y="0"/>
                    <a:pt x="354503" y="38627"/>
                    <a:pt x="354503" y="86277"/>
                  </a:cubicBezTo>
                  <a:lnTo>
                    <a:pt x="354503" y="2943813"/>
                  </a:lnTo>
                  <a:cubicBezTo>
                    <a:pt x="354503" y="2991462"/>
                    <a:pt x="315876" y="3030089"/>
                    <a:pt x="268227" y="3030089"/>
                  </a:cubicBezTo>
                  <a:lnTo>
                    <a:pt x="86277" y="3030089"/>
                  </a:lnTo>
                  <a:cubicBezTo>
                    <a:pt x="38627" y="3030089"/>
                    <a:pt x="0" y="2991462"/>
                    <a:pt x="0" y="2943813"/>
                  </a:cubicBezTo>
                  <a:lnTo>
                    <a:pt x="0" y="86277"/>
                  </a:lnTo>
                  <a:cubicBezTo>
                    <a:pt x="0" y="38627"/>
                    <a:pt x="38627" y="0"/>
                    <a:pt x="86277" y="0"/>
                  </a:cubicBezTo>
                  <a:close/>
                </a:path>
              </a:pathLst>
            </a:custGeom>
            <a:solidFill>
              <a:srgbClr val="F5FDFF"/>
            </a:solidFill>
            <a:ln w="38100" cap="sq">
              <a:solidFill>
                <a:srgbClr val="01294E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4503" cy="3068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86531" y="7959920"/>
            <a:ext cx="11349097" cy="160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1" dirty="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it means:</a:t>
            </a:r>
          </a:p>
          <a:p>
            <a:pPr marL="334644" lvl="1" algn="l">
              <a:lnSpc>
                <a:spcPts val="3099"/>
              </a:lnSpc>
            </a:pPr>
            <a:endParaRPr lang="en-US" sz="3499" b="1" dirty="0">
              <a:solidFill>
                <a:srgbClr val="01294E"/>
              </a:solidFill>
              <a:latin typeface="Times New Roman Bold"/>
              <a:ea typeface="Times New Roman"/>
              <a:cs typeface="Times New Roman Bold"/>
              <a:sym typeface="Times New Roman Bold"/>
            </a:endParaRPr>
          </a:p>
          <a:p>
            <a:pPr marL="334644" lvl="1" algn="l">
              <a:lnSpc>
                <a:spcPts val="3099"/>
              </a:lnSpc>
            </a:pPr>
            <a:r>
              <a:rPr lang="en-US" sz="3099" dirty="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effectively distinguishes stroke from non stroke cases.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3099" dirty="0">
              <a:solidFill>
                <a:srgbClr val="01294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891707" y="3677018"/>
            <a:ext cx="4116959" cy="2448821"/>
            <a:chOff x="0" y="0"/>
            <a:chExt cx="1084302" cy="6449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84302" cy="644957"/>
            </a:xfrm>
            <a:custGeom>
              <a:avLst/>
              <a:gdLst/>
              <a:ahLst/>
              <a:cxnLst/>
              <a:rect l="l" t="t" r="r" b="b"/>
              <a:pathLst>
                <a:path w="1084302" h="644957">
                  <a:moveTo>
                    <a:pt x="30088" y="0"/>
                  </a:moveTo>
                  <a:lnTo>
                    <a:pt x="1054214" y="0"/>
                  </a:lnTo>
                  <a:cubicBezTo>
                    <a:pt x="1070831" y="0"/>
                    <a:pt x="1084302" y="13471"/>
                    <a:pt x="1084302" y="30088"/>
                  </a:cubicBezTo>
                  <a:lnTo>
                    <a:pt x="1084302" y="614869"/>
                  </a:lnTo>
                  <a:cubicBezTo>
                    <a:pt x="1084302" y="631486"/>
                    <a:pt x="1070831" y="644957"/>
                    <a:pt x="1054214" y="644957"/>
                  </a:cubicBezTo>
                  <a:lnTo>
                    <a:pt x="30088" y="644957"/>
                  </a:lnTo>
                  <a:cubicBezTo>
                    <a:pt x="13471" y="644957"/>
                    <a:pt x="0" y="631486"/>
                    <a:pt x="0" y="614869"/>
                  </a:cubicBezTo>
                  <a:lnTo>
                    <a:pt x="0" y="30088"/>
                  </a:lnTo>
                  <a:cubicBezTo>
                    <a:pt x="0" y="13471"/>
                    <a:pt x="13471" y="0"/>
                    <a:pt x="30088" y="0"/>
                  </a:cubicBezTo>
                  <a:close/>
                </a:path>
              </a:pathLst>
            </a:custGeom>
            <a:solidFill>
              <a:srgbClr val="043C7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84302" cy="683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939941" y="3900170"/>
            <a:ext cx="2020491" cy="132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ROC-AUC </a:t>
            </a:r>
          </a:p>
          <a:p>
            <a:pPr algn="ctr">
              <a:lnSpc>
                <a:spcPts val="3199"/>
              </a:lnSpc>
            </a:pPr>
            <a:endParaRPr lang="en-US" sz="31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79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82.80%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69488" y="5507262"/>
            <a:ext cx="3561397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discrimination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C96E3E1-D74A-A1EB-7A13-3E302F0F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8406295" y="3527939"/>
            <a:ext cx="1475410" cy="10740333"/>
            <a:chOff x="0" y="0"/>
            <a:chExt cx="388585" cy="28287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8585" cy="2828730"/>
            </a:xfrm>
            <a:custGeom>
              <a:avLst/>
              <a:gdLst/>
              <a:ahLst/>
              <a:cxnLst/>
              <a:rect l="l" t="t" r="r" b="b"/>
              <a:pathLst>
                <a:path w="388585" h="2828730">
                  <a:moveTo>
                    <a:pt x="83957" y="0"/>
                  </a:moveTo>
                  <a:lnTo>
                    <a:pt x="304629" y="0"/>
                  </a:lnTo>
                  <a:cubicBezTo>
                    <a:pt x="326895" y="0"/>
                    <a:pt x="348250" y="8845"/>
                    <a:pt x="363995" y="24590"/>
                  </a:cubicBezTo>
                  <a:cubicBezTo>
                    <a:pt x="379740" y="40335"/>
                    <a:pt x="388585" y="61690"/>
                    <a:pt x="388585" y="83957"/>
                  </a:cubicBezTo>
                  <a:lnTo>
                    <a:pt x="388585" y="2744773"/>
                  </a:lnTo>
                  <a:cubicBezTo>
                    <a:pt x="388585" y="2791141"/>
                    <a:pt x="350997" y="2828730"/>
                    <a:pt x="304629" y="2828730"/>
                  </a:cubicBezTo>
                  <a:lnTo>
                    <a:pt x="83957" y="2828730"/>
                  </a:lnTo>
                  <a:cubicBezTo>
                    <a:pt x="37589" y="2828730"/>
                    <a:pt x="0" y="2791141"/>
                    <a:pt x="0" y="2744773"/>
                  </a:cubicBezTo>
                  <a:lnTo>
                    <a:pt x="0" y="83957"/>
                  </a:lnTo>
                  <a:cubicBezTo>
                    <a:pt x="0" y="37589"/>
                    <a:pt x="37589" y="0"/>
                    <a:pt x="83957" y="0"/>
                  </a:cubicBezTo>
                  <a:close/>
                </a:path>
              </a:pathLst>
            </a:custGeom>
            <a:solidFill>
              <a:srgbClr val="F5FDFF"/>
            </a:solidFill>
            <a:ln w="38100" cap="sq">
              <a:solidFill>
                <a:srgbClr val="01203C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8585" cy="2866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7691694" y="-309308"/>
            <a:ext cx="2904614" cy="18288002"/>
          </a:xfrm>
          <a:custGeom>
            <a:avLst/>
            <a:gdLst/>
            <a:ahLst/>
            <a:cxnLst/>
            <a:rect l="l" t="t" r="r" b="b"/>
            <a:pathLst>
              <a:path w="2904614" h="19202109">
                <a:moveTo>
                  <a:pt x="0" y="19202110"/>
                </a:moveTo>
                <a:lnTo>
                  <a:pt x="0" y="0"/>
                </a:lnTo>
                <a:lnTo>
                  <a:pt x="2904614" y="0"/>
                </a:lnTo>
                <a:lnTo>
                  <a:pt x="2904614" y="19202110"/>
                </a:lnTo>
                <a:lnTo>
                  <a:pt x="0" y="19202110"/>
                </a:lnTo>
                <a:close/>
              </a:path>
            </a:pathLst>
          </a:custGeom>
          <a:blipFill>
            <a:blip r:embed="rId2"/>
            <a:stretch>
              <a:fillRect l="-308386" r="-32064"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2111375"/>
            <a:ext cx="15835819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724436" y="2904830"/>
            <a:ext cx="7765673" cy="4236741"/>
          </a:xfrm>
          <a:custGeom>
            <a:avLst/>
            <a:gdLst/>
            <a:ahLst/>
            <a:cxnLst/>
            <a:rect l="l" t="t" r="r" b="b"/>
            <a:pathLst>
              <a:path w="7765673" h="4236741">
                <a:moveTo>
                  <a:pt x="0" y="0"/>
                </a:moveTo>
                <a:lnTo>
                  <a:pt x="7765673" y="0"/>
                </a:lnTo>
                <a:lnTo>
                  <a:pt x="7765673" y="4236740"/>
                </a:lnTo>
                <a:lnTo>
                  <a:pt x="0" y="4236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1C3F60"/>
            </a:solidFill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8794373" y="3178302"/>
            <a:ext cx="8769191" cy="3689797"/>
          </a:xfrm>
          <a:custGeom>
            <a:avLst/>
            <a:gdLst/>
            <a:ahLst/>
            <a:cxnLst/>
            <a:rect l="l" t="t" r="r" b="b"/>
            <a:pathLst>
              <a:path w="8769191" h="3689797">
                <a:moveTo>
                  <a:pt x="0" y="0"/>
                </a:moveTo>
                <a:lnTo>
                  <a:pt x="8769191" y="0"/>
                </a:lnTo>
                <a:lnTo>
                  <a:pt x="8769191" y="3689796"/>
                </a:lnTo>
                <a:lnTo>
                  <a:pt x="0" y="3689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13" b="-17673"/>
            </a:stretch>
          </a:blipFill>
          <a:ln w="38100" cap="sq">
            <a:solidFill>
              <a:srgbClr val="01203C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028700" y="1114425"/>
            <a:ext cx="15531346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sz="6500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SHAP Explainability &amp; Feature Importance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59007" y="8312801"/>
            <a:ext cx="10901719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099" b="1" dirty="0">
                <a:solidFill>
                  <a:schemeClr val="accent1">
                    <a:lumMod val="50000"/>
                  </a:scheme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it matters</a:t>
            </a:r>
          </a:p>
          <a:p>
            <a:pPr algn="l">
              <a:lnSpc>
                <a:spcPts val="2899"/>
              </a:lnSpc>
            </a:pPr>
            <a:endParaRPr lang="en-US" sz="3099" b="1" dirty="0">
              <a:solidFill>
                <a:schemeClr val="accent1">
                  <a:lumMod val="50000"/>
                </a:schemeClr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899"/>
              </a:lnSpc>
              <a:spcBef>
                <a:spcPct val="0"/>
              </a:spcBef>
            </a:pPr>
            <a:r>
              <a:rPr lang="en-US" sz="2899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transparent and interpretable explanations for model predictions</a:t>
            </a: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6ACF59C-CFA0-DCD5-76DB-D906D1E1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0"/>
            <a:ext cx="18288000" cy="2110440"/>
          </a:xfrm>
          <a:custGeom>
            <a:avLst/>
            <a:gdLst/>
            <a:ahLst/>
            <a:cxnLst/>
            <a:rect l="l" t="t" r="r" b="b"/>
            <a:pathLst>
              <a:path w="18519717" h="4518534">
                <a:moveTo>
                  <a:pt x="0" y="0"/>
                </a:moveTo>
                <a:lnTo>
                  <a:pt x="18519717" y="0"/>
                </a:lnTo>
                <a:lnTo>
                  <a:pt x="18519717" y="4518534"/>
                </a:lnTo>
                <a:lnTo>
                  <a:pt x="0" y="451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21" t="-491594" b="-37375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21970"/>
            <a:ext cx="13986629" cy="143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69"/>
              </a:lnSpc>
              <a:spcBef>
                <a:spcPct val="0"/>
              </a:spcBef>
            </a:pPr>
            <a:r>
              <a:rPr lang="en-US" sz="6999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MedInsight Application &amp; Workflow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1954530"/>
            <a:ext cx="14105592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083369" y="2738061"/>
            <a:ext cx="5042169" cy="1382021"/>
          </a:xfrm>
          <a:custGeom>
            <a:avLst/>
            <a:gdLst/>
            <a:ahLst/>
            <a:cxnLst/>
            <a:rect l="l" t="t" r="r" b="b"/>
            <a:pathLst>
              <a:path w="5042169" h="1382021">
                <a:moveTo>
                  <a:pt x="0" y="0"/>
                </a:moveTo>
                <a:lnTo>
                  <a:pt x="5042169" y="0"/>
                </a:lnTo>
                <a:lnTo>
                  <a:pt x="5042169" y="1382021"/>
                </a:lnTo>
                <a:lnTo>
                  <a:pt x="0" y="1382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8" r="-91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9218441"/>
            <a:ext cx="18288000" cy="1068559"/>
          </a:xfrm>
          <a:custGeom>
            <a:avLst/>
            <a:gdLst/>
            <a:ahLst/>
            <a:cxnLst/>
            <a:rect l="l" t="t" r="r" b="b"/>
            <a:pathLst>
              <a:path w="18519717" h="4518534">
                <a:moveTo>
                  <a:pt x="0" y="0"/>
                </a:moveTo>
                <a:lnTo>
                  <a:pt x="18519718" y="0"/>
                </a:lnTo>
                <a:lnTo>
                  <a:pt x="18519718" y="4518535"/>
                </a:lnTo>
                <a:lnTo>
                  <a:pt x="0" y="4518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21" t="-491594" b="-37375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83369" y="4920182"/>
            <a:ext cx="5042169" cy="3252250"/>
          </a:xfrm>
          <a:custGeom>
            <a:avLst/>
            <a:gdLst/>
            <a:ahLst/>
            <a:cxnLst/>
            <a:rect l="l" t="t" r="r" b="b"/>
            <a:pathLst>
              <a:path w="5042169" h="3252250">
                <a:moveTo>
                  <a:pt x="0" y="0"/>
                </a:moveTo>
                <a:lnTo>
                  <a:pt x="5042169" y="0"/>
                </a:lnTo>
                <a:lnTo>
                  <a:pt x="5042169" y="3252250"/>
                </a:lnTo>
                <a:lnTo>
                  <a:pt x="0" y="3252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731628" y="3722140"/>
            <a:ext cx="5948140" cy="3561159"/>
          </a:xfrm>
          <a:custGeom>
            <a:avLst/>
            <a:gdLst/>
            <a:ahLst/>
            <a:cxnLst/>
            <a:rect l="l" t="t" r="r" b="b"/>
            <a:pathLst>
              <a:path w="5948140" h="3561159">
                <a:moveTo>
                  <a:pt x="0" y="0"/>
                </a:moveTo>
                <a:lnTo>
                  <a:pt x="5948140" y="0"/>
                </a:lnTo>
                <a:lnTo>
                  <a:pt x="5948140" y="3561159"/>
                </a:lnTo>
                <a:lnTo>
                  <a:pt x="0" y="3561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7206" y="2915828"/>
            <a:ext cx="4806563" cy="1847609"/>
          </a:xfrm>
          <a:custGeom>
            <a:avLst/>
            <a:gdLst/>
            <a:ahLst/>
            <a:cxnLst/>
            <a:rect l="l" t="t" r="r" b="b"/>
            <a:pathLst>
              <a:path w="4806563" h="1847609">
                <a:moveTo>
                  <a:pt x="0" y="0"/>
                </a:moveTo>
                <a:lnTo>
                  <a:pt x="4806563" y="0"/>
                </a:lnTo>
                <a:lnTo>
                  <a:pt x="4806563" y="1847610"/>
                </a:lnTo>
                <a:lnTo>
                  <a:pt x="0" y="1847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0292" y="5322285"/>
            <a:ext cx="5114718" cy="2467690"/>
          </a:xfrm>
          <a:custGeom>
            <a:avLst/>
            <a:gdLst/>
            <a:ahLst/>
            <a:cxnLst/>
            <a:rect l="l" t="t" r="r" b="b"/>
            <a:pathLst>
              <a:path w="5114718" h="2467690">
                <a:moveTo>
                  <a:pt x="0" y="0"/>
                </a:moveTo>
                <a:lnTo>
                  <a:pt x="5114717" y="0"/>
                </a:lnTo>
                <a:lnTo>
                  <a:pt x="5114717" y="2467690"/>
                </a:lnTo>
                <a:lnTo>
                  <a:pt x="0" y="2467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30292" y="7789975"/>
            <a:ext cx="5120170" cy="764915"/>
          </a:xfrm>
          <a:custGeom>
            <a:avLst/>
            <a:gdLst/>
            <a:ahLst/>
            <a:cxnLst/>
            <a:rect l="l" t="t" r="r" b="b"/>
            <a:pathLst>
              <a:path w="5120170" h="764915">
                <a:moveTo>
                  <a:pt x="0" y="0"/>
                </a:moveTo>
                <a:lnTo>
                  <a:pt x="5120170" y="0"/>
                </a:lnTo>
                <a:lnTo>
                  <a:pt x="5120170" y="764914"/>
                </a:lnTo>
                <a:lnTo>
                  <a:pt x="0" y="7649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79558" y="4837345"/>
            <a:ext cx="216384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01. User Login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48567" y="8716814"/>
            <a:ext cx="2547233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02. Patient Input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55262" y="4366516"/>
            <a:ext cx="2786301" cy="33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03. Risk Assessment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37569" y="8554890"/>
            <a:ext cx="3747861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04. Explainable Prediction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57032" y="7523803"/>
            <a:ext cx="1463968" cy="322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05. Report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970585" y="7369688"/>
            <a:ext cx="1800812" cy="613903"/>
            <a:chOff x="0" y="0"/>
            <a:chExt cx="474288" cy="1616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4288" cy="161686"/>
            </a:xfrm>
            <a:custGeom>
              <a:avLst/>
              <a:gdLst/>
              <a:ahLst/>
              <a:cxnLst/>
              <a:rect l="l" t="t" r="r" b="b"/>
              <a:pathLst>
                <a:path w="474288" h="161686">
                  <a:moveTo>
                    <a:pt x="21496" y="0"/>
                  </a:moveTo>
                  <a:lnTo>
                    <a:pt x="452792" y="0"/>
                  </a:lnTo>
                  <a:cubicBezTo>
                    <a:pt x="458493" y="0"/>
                    <a:pt x="463961" y="2265"/>
                    <a:pt x="467992" y="6296"/>
                  </a:cubicBezTo>
                  <a:cubicBezTo>
                    <a:pt x="472023" y="10327"/>
                    <a:pt x="474288" y="15795"/>
                    <a:pt x="474288" y="21496"/>
                  </a:cubicBezTo>
                  <a:lnTo>
                    <a:pt x="474288" y="140191"/>
                  </a:lnTo>
                  <a:cubicBezTo>
                    <a:pt x="474288" y="145892"/>
                    <a:pt x="472023" y="151359"/>
                    <a:pt x="467992" y="155390"/>
                  </a:cubicBezTo>
                  <a:cubicBezTo>
                    <a:pt x="463961" y="159422"/>
                    <a:pt x="458493" y="161686"/>
                    <a:pt x="452792" y="161686"/>
                  </a:cubicBezTo>
                  <a:lnTo>
                    <a:pt x="21496" y="161686"/>
                  </a:lnTo>
                  <a:cubicBezTo>
                    <a:pt x="15795" y="161686"/>
                    <a:pt x="10327" y="159422"/>
                    <a:pt x="6296" y="155390"/>
                  </a:cubicBezTo>
                  <a:cubicBezTo>
                    <a:pt x="2265" y="151359"/>
                    <a:pt x="0" y="145892"/>
                    <a:pt x="0" y="140191"/>
                  </a:cubicBezTo>
                  <a:lnTo>
                    <a:pt x="0" y="21496"/>
                  </a:lnTo>
                  <a:cubicBezTo>
                    <a:pt x="0" y="15795"/>
                    <a:pt x="2265" y="10327"/>
                    <a:pt x="6296" y="6296"/>
                  </a:cubicBezTo>
                  <a:cubicBezTo>
                    <a:pt x="10327" y="2265"/>
                    <a:pt x="15795" y="0"/>
                    <a:pt x="21496" y="0"/>
                  </a:cubicBezTo>
                  <a:close/>
                </a:path>
              </a:pathLst>
            </a:custGeom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74288" cy="199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1982" y="8371763"/>
            <a:ext cx="3899037" cy="613903"/>
            <a:chOff x="0" y="0"/>
            <a:chExt cx="1026907" cy="1616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6907" cy="161686"/>
            </a:xfrm>
            <a:custGeom>
              <a:avLst/>
              <a:gdLst/>
              <a:ahLst/>
              <a:cxnLst/>
              <a:rect l="l" t="t" r="r" b="b"/>
              <a:pathLst>
                <a:path w="1026907" h="161686">
                  <a:moveTo>
                    <a:pt x="9928" y="0"/>
                  </a:moveTo>
                  <a:lnTo>
                    <a:pt x="1016979" y="0"/>
                  </a:lnTo>
                  <a:cubicBezTo>
                    <a:pt x="1019612" y="0"/>
                    <a:pt x="1022137" y="1046"/>
                    <a:pt x="1023999" y="2908"/>
                  </a:cubicBezTo>
                  <a:cubicBezTo>
                    <a:pt x="1025861" y="4770"/>
                    <a:pt x="1026907" y="7295"/>
                    <a:pt x="1026907" y="9928"/>
                  </a:cubicBezTo>
                  <a:lnTo>
                    <a:pt x="1026907" y="151758"/>
                  </a:lnTo>
                  <a:cubicBezTo>
                    <a:pt x="1026907" y="154391"/>
                    <a:pt x="1025861" y="156917"/>
                    <a:pt x="1023999" y="158779"/>
                  </a:cubicBezTo>
                  <a:cubicBezTo>
                    <a:pt x="1022137" y="160640"/>
                    <a:pt x="1019612" y="161686"/>
                    <a:pt x="1016979" y="161686"/>
                  </a:cubicBezTo>
                  <a:lnTo>
                    <a:pt x="9928" y="161686"/>
                  </a:lnTo>
                  <a:cubicBezTo>
                    <a:pt x="7295" y="161686"/>
                    <a:pt x="4770" y="160640"/>
                    <a:pt x="2908" y="158779"/>
                  </a:cubicBezTo>
                  <a:cubicBezTo>
                    <a:pt x="1046" y="156917"/>
                    <a:pt x="0" y="154391"/>
                    <a:pt x="0" y="151758"/>
                  </a:cubicBezTo>
                  <a:lnTo>
                    <a:pt x="0" y="9928"/>
                  </a:lnTo>
                  <a:cubicBezTo>
                    <a:pt x="0" y="7295"/>
                    <a:pt x="1046" y="4770"/>
                    <a:pt x="2908" y="2908"/>
                  </a:cubicBezTo>
                  <a:cubicBezTo>
                    <a:pt x="4770" y="1046"/>
                    <a:pt x="7295" y="0"/>
                    <a:pt x="9928" y="0"/>
                  </a:cubicBezTo>
                  <a:close/>
                </a:path>
              </a:pathLst>
            </a:custGeom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26907" cy="199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62002" y="8609712"/>
            <a:ext cx="2812978" cy="501628"/>
            <a:chOff x="0" y="0"/>
            <a:chExt cx="740867" cy="1321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40867" cy="132116"/>
            </a:xfrm>
            <a:custGeom>
              <a:avLst/>
              <a:gdLst/>
              <a:ahLst/>
              <a:cxnLst/>
              <a:rect l="l" t="t" r="r" b="b"/>
              <a:pathLst>
                <a:path w="740867" h="132116">
                  <a:moveTo>
                    <a:pt x="13761" y="0"/>
                  </a:moveTo>
                  <a:lnTo>
                    <a:pt x="727105" y="0"/>
                  </a:lnTo>
                  <a:cubicBezTo>
                    <a:pt x="734705" y="0"/>
                    <a:pt x="740867" y="6161"/>
                    <a:pt x="740867" y="13761"/>
                  </a:cubicBezTo>
                  <a:lnTo>
                    <a:pt x="740867" y="118355"/>
                  </a:lnTo>
                  <a:cubicBezTo>
                    <a:pt x="740867" y="122005"/>
                    <a:pt x="739417" y="125505"/>
                    <a:pt x="736836" y="128086"/>
                  </a:cubicBezTo>
                  <a:cubicBezTo>
                    <a:pt x="734255" y="130666"/>
                    <a:pt x="730755" y="132116"/>
                    <a:pt x="727105" y="132116"/>
                  </a:cubicBezTo>
                  <a:lnTo>
                    <a:pt x="13761" y="132116"/>
                  </a:lnTo>
                  <a:cubicBezTo>
                    <a:pt x="10111" y="132116"/>
                    <a:pt x="6611" y="130666"/>
                    <a:pt x="4031" y="128086"/>
                  </a:cubicBezTo>
                  <a:cubicBezTo>
                    <a:pt x="1450" y="125505"/>
                    <a:pt x="0" y="122005"/>
                    <a:pt x="0" y="118355"/>
                  </a:cubicBezTo>
                  <a:lnTo>
                    <a:pt x="0" y="13761"/>
                  </a:lnTo>
                  <a:cubicBezTo>
                    <a:pt x="0" y="10111"/>
                    <a:pt x="1450" y="6611"/>
                    <a:pt x="4031" y="4031"/>
                  </a:cubicBezTo>
                  <a:cubicBezTo>
                    <a:pt x="6611" y="1450"/>
                    <a:pt x="10111" y="0"/>
                    <a:pt x="13761" y="0"/>
                  </a:cubicBezTo>
                  <a:close/>
                </a:path>
              </a:pathLst>
            </a:custGeom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40867" cy="17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948567" y="4820588"/>
            <a:ext cx="2626412" cy="387397"/>
            <a:chOff x="0" y="0"/>
            <a:chExt cx="691730" cy="1020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1730" cy="102030"/>
            </a:xfrm>
            <a:custGeom>
              <a:avLst/>
              <a:gdLst/>
              <a:ahLst/>
              <a:cxnLst/>
              <a:rect l="l" t="t" r="r" b="b"/>
              <a:pathLst>
                <a:path w="691730" h="102030">
                  <a:moveTo>
                    <a:pt x="14739" y="0"/>
                  </a:moveTo>
                  <a:lnTo>
                    <a:pt x="676991" y="0"/>
                  </a:lnTo>
                  <a:cubicBezTo>
                    <a:pt x="680900" y="0"/>
                    <a:pt x="684649" y="1553"/>
                    <a:pt x="687413" y="4317"/>
                  </a:cubicBezTo>
                  <a:cubicBezTo>
                    <a:pt x="690177" y="7081"/>
                    <a:pt x="691730" y="10830"/>
                    <a:pt x="691730" y="14739"/>
                  </a:cubicBezTo>
                  <a:lnTo>
                    <a:pt x="691730" y="87292"/>
                  </a:lnTo>
                  <a:cubicBezTo>
                    <a:pt x="691730" y="91201"/>
                    <a:pt x="690177" y="94950"/>
                    <a:pt x="687413" y="97714"/>
                  </a:cubicBezTo>
                  <a:cubicBezTo>
                    <a:pt x="684649" y="100478"/>
                    <a:pt x="680900" y="102030"/>
                    <a:pt x="676991" y="102030"/>
                  </a:cubicBezTo>
                  <a:lnTo>
                    <a:pt x="14739" y="102030"/>
                  </a:lnTo>
                  <a:cubicBezTo>
                    <a:pt x="10830" y="102030"/>
                    <a:pt x="7081" y="100478"/>
                    <a:pt x="4317" y="97714"/>
                  </a:cubicBezTo>
                  <a:cubicBezTo>
                    <a:pt x="1553" y="94950"/>
                    <a:pt x="0" y="91201"/>
                    <a:pt x="0" y="87292"/>
                  </a:cubicBezTo>
                  <a:lnTo>
                    <a:pt x="0" y="14739"/>
                  </a:lnTo>
                  <a:cubicBezTo>
                    <a:pt x="0" y="10830"/>
                    <a:pt x="1553" y="7081"/>
                    <a:pt x="4317" y="4317"/>
                  </a:cubicBezTo>
                  <a:cubicBezTo>
                    <a:pt x="7081" y="1553"/>
                    <a:pt x="10830" y="0"/>
                    <a:pt x="14739" y="0"/>
                  </a:cubicBezTo>
                  <a:close/>
                </a:path>
              </a:pathLst>
            </a:custGeom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91730" cy="140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13158" y="4213181"/>
            <a:ext cx="3189935" cy="613903"/>
            <a:chOff x="0" y="0"/>
            <a:chExt cx="840148" cy="1616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40148" cy="161686"/>
            </a:xfrm>
            <a:custGeom>
              <a:avLst/>
              <a:gdLst/>
              <a:ahLst/>
              <a:cxnLst/>
              <a:rect l="l" t="t" r="r" b="b"/>
              <a:pathLst>
                <a:path w="840148" h="161686">
                  <a:moveTo>
                    <a:pt x="12135" y="0"/>
                  </a:moveTo>
                  <a:lnTo>
                    <a:pt x="828013" y="0"/>
                  </a:lnTo>
                  <a:cubicBezTo>
                    <a:pt x="834715" y="0"/>
                    <a:pt x="840148" y="5433"/>
                    <a:pt x="840148" y="12135"/>
                  </a:cubicBezTo>
                  <a:lnTo>
                    <a:pt x="840148" y="149551"/>
                  </a:lnTo>
                  <a:cubicBezTo>
                    <a:pt x="840148" y="156253"/>
                    <a:pt x="834715" y="161686"/>
                    <a:pt x="828013" y="161686"/>
                  </a:cubicBezTo>
                  <a:lnTo>
                    <a:pt x="12135" y="161686"/>
                  </a:lnTo>
                  <a:cubicBezTo>
                    <a:pt x="5433" y="161686"/>
                    <a:pt x="0" y="156253"/>
                    <a:pt x="0" y="149551"/>
                  </a:cubicBezTo>
                  <a:lnTo>
                    <a:pt x="0" y="12135"/>
                  </a:lnTo>
                  <a:cubicBezTo>
                    <a:pt x="0" y="5433"/>
                    <a:pt x="5433" y="0"/>
                    <a:pt x="12135" y="0"/>
                  </a:cubicBezTo>
                  <a:close/>
                </a:path>
              </a:pathLst>
            </a:custGeom>
            <a:ln w="38100" cap="sq">
              <a:solidFill>
                <a:srgbClr val="1C3F6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840148" cy="199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30292" y="2062815"/>
            <a:ext cx="4790165" cy="65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  <a:spcBef>
                <a:spcPct val="0"/>
              </a:spcBef>
            </a:pPr>
            <a:r>
              <a:rPr lang="en-US" sz="3679" b="1" spc="-73">
                <a:solidFill>
                  <a:srgbClr val="043C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A. Patient Screening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2423ACF6-D3BC-DBF5-823B-7600D1F1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9">
            <a:extLst>
              <a:ext uri="{FF2B5EF4-FFF2-40B4-BE49-F238E27FC236}">
                <a16:creationId xmlns:a16="http://schemas.microsoft.com/office/drawing/2014/main" id="{70F55C53-A2A8-FDDD-AE1E-D058389EB6DB}"/>
              </a:ext>
            </a:extLst>
          </p:cNvPr>
          <p:cNvGrpSpPr/>
          <p:nvPr/>
        </p:nvGrpSpPr>
        <p:grpSpPr>
          <a:xfrm rot="-5400000">
            <a:off x="13729425" y="4661638"/>
            <a:ext cx="602604" cy="7297192"/>
            <a:chOff x="0" y="0"/>
            <a:chExt cx="628307" cy="2241867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85C6FF8-B8DE-5380-38AC-3BD0153B63D5}"/>
                </a:ext>
              </a:extLst>
            </p:cNvPr>
            <p:cNvSpPr/>
            <p:nvPr/>
          </p:nvSpPr>
          <p:spPr>
            <a:xfrm>
              <a:off x="0" y="0"/>
              <a:ext cx="628307" cy="2241867"/>
            </a:xfrm>
            <a:custGeom>
              <a:avLst/>
              <a:gdLst/>
              <a:ahLst/>
              <a:cxnLst/>
              <a:rect l="l" t="t" r="r" b="b"/>
              <a:pathLst>
                <a:path w="628307" h="2241867">
                  <a:moveTo>
                    <a:pt x="48679" y="0"/>
                  </a:moveTo>
                  <a:lnTo>
                    <a:pt x="579628" y="0"/>
                  </a:lnTo>
                  <a:cubicBezTo>
                    <a:pt x="592538" y="0"/>
                    <a:pt x="604920" y="5129"/>
                    <a:pt x="614049" y="14258"/>
                  </a:cubicBezTo>
                  <a:cubicBezTo>
                    <a:pt x="623178" y="23387"/>
                    <a:pt x="628307" y="35769"/>
                    <a:pt x="628307" y="48679"/>
                  </a:cubicBezTo>
                  <a:lnTo>
                    <a:pt x="628307" y="2193188"/>
                  </a:lnTo>
                  <a:cubicBezTo>
                    <a:pt x="628307" y="2220072"/>
                    <a:pt x="606512" y="2241867"/>
                    <a:pt x="579628" y="2241867"/>
                  </a:cubicBezTo>
                  <a:lnTo>
                    <a:pt x="48679" y="2241867"/>
                  </a:lnTo>
                  <a:cubicBezTo>
                    <a:pt x="35769" y="2241867"/>
                    <a:pt x="23387" y="2236738"/>
                    <a:pt x="14258" y="2227609"/>
                  </a:cubicBezTo>
                  <a:cubicBezTo>
                    <a:pt x="5129" y="2218480"/>
                    <a:pt x="0" y="2206098"/>
                    <a:pt x="0" y="2193188"/>
                  </a:cubicBezTo>
                  <a:lnTo>
                    <a:pt x="0" y="48679"/>
                  </a:lnTo>
                  <a:cubicBezTo>
                    <a:pt x="0" y="35769"/>
                    <a:pt x="5129" y="23387"/>
                    <a:pt x="14258" y="14258"/>
                  </a:cubicBezTo>
                  <a:cubicBezTo>
                    <a:pt x="23387" y="5129"/>
                    <a:pt x="35769" y="0"/>
                    <a:pt x="48679" y="0"/>
                  </a:cubicBezTo>
                  <a:close/>
                </a:path>
              </a:pathLst>
            </a:custGeom>
            <a:solidFill>
              <a:srgbClr val="F5FDFF"/>
            </a:solidFill>
            <a:ln w="38100" cap="sq">
              <a:solidFill>
                <a:srgbClr val="1B7895"/>
              </a:solidFill>
              <a:prstDash val="solid"/>
              <a:miter/>
            </a:ln>
          </p:spPr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AEDE81D2-F29D-C576-8BCF-5DECC985C9E4}"/>
                </a:ext>
              </a:extLst>
            </p:cNvPr>
            <p:cNvSpPr txBox="1"/>
            <p:nvPr/>
          </p:nvSpPr>
          <p:spPr>
            <a:xfrm>
              <a:off x="0" y="-38100"/>
              <a:ext cx="628307" cy="2279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9">
            <a:extLst>
              <a:ext uri="{FF2B5EF4-FFF2-40B4-BE49-F238E27FC236}">
                <a16:creationId xmlns:a16="http://schemas.microsoft.com/office/drawing/2014/main" id="{156A73AF-4517-43EB-B3E8-BA0230C30CE3}"/>
              </a:ext>
            </a:extLst>
          </p:cNvPr>
          <p:cNvGrpSpPr/>
          <p:nvPr/>
        </p:nvGrpSpPr>
        <p:grpSpPr>
          <a:xfrm rot="-5400000">
            <a:off x="4494281" y="4038633"/>
            <a:ext cx="1335057" cy="8116790"/>
            <a:chOff x="0" y="0"/>
            <a:chExt cx="628307" cy="2241867"/>
          </a:xfrm>
        </p:grpSpPr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FFD5C4C5-11DF-791F-A471-E5C24B928CAA}"/>
                </a:ext>
              </a:extLst>
            </p:cNvPr>
            <p:cNvSpPr/>
            <p:nvPr/>
          </p:nvSpPr>
          <p:spPr>
            <a:xfrm>
              <a:off x="0" y="0"/>
              <a:ext cx="628307" cy="2241867"/>
            </a:xfrm>
            <a:custGeom>
              <a:avLst/>
              <a:gdLst/>
              <a:ahLst/>
              <a:cxnLst/>
              <a:rect l="l" t="t" r="r" b="b"/>
              <a:pathLst>
                <a:path w="628307" h="2241867">
                  <a:moveTo>
                    <a:pt x="48679" y="0"/>
                  </a:moveTo>
                  <a:lnTo>
                    <a:pt x="579628" y="0"/>
                  </a:lnTo>
                  <a:cubicBezTo>
                    <a:pt x="592538" y="0"/>
                    <a:pt x="604920" y="5129"/>
                    <a:pt x="614049" y="14258"/>
                  </a:cubicBezTo>
                  <a:cubicBezTo>
                    <a:pt x="623178" y="23387"/>
                    <a:pt x="628307" y="35769"/>
                    <a:pt x="628307" y="48679"/>
                  </a:cubicBezTo>
                  <a:lnTo>
                    <a:pt x="628307" y="2193188"/>
                  </a:lnTo>
                  <a:cubicBezTo>
                    <a:pt x="628307" y="2220072"/>
                    <a:pt x="606512" y="2241867"/>
                    <a:pt x="579628" y="2241867"/>
                  </a:cubicBezTo>
                  <a:lnTo>
                    <a:pt x="48679" y="2241867"/>
                  </a:lnTo>
                  <a:cubicBezTo>
                    <a:pt x="35769" y="2241867"/>
                    <a:pt x="23387" y="2236738"/>
                    <a:pt x="14258" y="2227609"/>
                  </a:cubicBezTo>
                  <a:cubicBezTo>
                    <a:pt x="5129" y="2218480"/>
                    <a:pt x="0" y="2206098"/>
                    <a:pt x="0" y="2193188"/>
                  </a:cubicBezTo>
                  <a:lnTo>
                    <a:pt x="0" y="48679"/>
                  </a:lnTo>
                  <a:cubicBezTo>
                    <a:pt x="0" y="35769"/>
                    <a:pt x="5129" y="23387"/>
                    <a:pt x="14258" y="14258"/>
                  </a:cubicBezTo>
                  <a:cubicBezTo>
                    <a:pt x="23387" y="5129"/>
                    <a:pt x="35769" y="0"/>
                    <a:pt x="48679" y="0"/>
                  </a:cubicBezTo>
                  <a:close/>
                </a:path>
              </a:pathLst>
            </a:custGeom>
            <a:solidFill>
              <a:srgbClr val="F5FDFF"/>
            </a:solidFill>
            <a:ln w="38100" cap="sq">
              <a:solidFill>
                <a:srgbClr val="1B7895"/>
              </a:solidFill>
              <a:prstDash val="solid"/>
              <a:miter/>
            </a:ln>
          </p:spPr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6FE7967A-4CA6-685F-8E7E-AF94BFBC8EDB}"/>
                </a:ext>
              </a:extLst>
            </p:cNvPr>
            <p:cNvSpPr txBox="1"/>
            <p:nvPr/>
          </p:nvSpPr>
          <p:spPr>
            <a:xfrm>
              <a:off x="0" y="-38100"/>
              <a:ext cx="628307" cy="2279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>
            <a:off x="1" y="0"/>
            <a:ext cx="18288000" cy="2110440"/>
          </a:xfrm>
          <a:custGeom>
            <a:avLst/>
            <a:gdLst/>
            <a:ahLst/>
            <a:cxnLst/>
            <a:rect l="l" t="t" r="r" b="b"/>
            <a:pathLst>
              <a:path w="18519717" h="4518534">
                <a:moveTo>
                  <a:pt x="0" y="0"/>
                </a:moveTo>
                <a:lnTo>
                  <a:pt x="18519717" y="0"/>
                </a:lnTo>
                <a:lnTo>
                  <a:pt x="18519717" y="4518534"/>
                </a:lnTo>
                <a:lnTo>
                  <a:pt x="0" y="451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21" t="-491594" b="-37375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954530"/>
            <a:ext cx="14105592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62791" y="3230925"/>
            <a:ext cx="8708976" cy="1739558"/>
          </a:xfrm>
          <a:custGeom>
            <a:avLst/>
            <a:gdLst/>
            <a:ahLst/>
            <a:cxnLst/>
            <a:rect l="l" t="t" r="r" b="b"/>
            <a:pathLst>
              <a:path w="8708976" h="1739558">
                <a:moveTo>
                  <a:pt x="0" y="0"/>
                </a:moveTo>
                <a:lnTo>
                  <a:pt x="8708976" y="0"/>
                </a:lnTo>
                <a:lnTo>
                  <a:pt x="8708976" y="1739558"/>
                </a:lnTo>
                <a:lnTo>
                  <a:pt x="0" y="1739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chemeClr val="tx2">
                <a:lumMod val="50000"/>
              </a:schemeClr>
            </a:solidFill>
          </a:ln>
        </p:spPr>
      </p:sp>
      <p:sp>
        <p:nvSpPr>
          <p:cNvPr id="5" name="Freeform 5"/>
          <p:cNvSpPr/>
          <p:nvPr/>
        </p:nvSpPr>
        <p:spPr>
          <a:xfrm>
            <a:off x="1000208" y="5443531"/>
            <a:ext cx="8571559" cy="1625891"/>
          </a:xfrm>
          <a:custGeom>
            <a:avLst/>
            <a:gdLst/>
            <a:ahLst/>
            <a:cxnLst/>
            <a:rect l="l" t="t" r="r" b="b"/>
            <a:pathLst>
              <a:path w="8571559" h="1625891">
                <a:moveTo>
                  <a:pt x="0" y="0"/>
                </a:moveTo>
                <a:lnTo>
                  <a:pt x="8571559" y="0"/>
                </a:lnTo>
                <a:lnTo>
                  <a:pt x="8571559" y="1625890"/>
                </a:lnTo>
                <a:lnTo>
                  <a:pt x="0" y="1625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7568"/>
            </a:stretch>
          </a:blipFill>
          <a:ln>
            <a:solidFill>
              <a:schemeClr val="tx2">
                <a:lumMod val="50000"/>
              </a:schemeClr>
            </a:solidFill>
          </a:ln>
        </p:spPr>
      </p:sp>
      <p:sp>
        <p:nvSpPr>
          <p:cNvPr id="9" name="Freeform 9"/>
          <p:cNvSpPr/>
          <p:nvPr/>
        </p:nvSpPr>
        <p:spPr>
          <a:xfrm>
            <a:off x="1202646" y="7652218"/>
            <a:ext cx="797910" cy="797910"/>
          </a:xfrm>
          <a:custGeom>
            <a:avLst/>
            <a:gdLst/>
            <a:ahLst/>
            <a:cxnLst/>
            <a:rect l="l" t="t" r="r" b="b"/>
            <a:pathLst>
              <a:path w="797910" h="797910">
                <a:moveTo>
                  <a:pt x="0" y="0"/>
                </a:moveTo>
                <a:lnTo>
                  <a:pt x="797910" y="0"/>
                </a:lnTo>
                <a:lnTo>
                  <a:pt x="797910" y="797910"/>
                </a:lnTo>
                <a:lnTo>
                  <a:pt x="0" y="797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" y="8870961"/>
            <a:ext cx="18288000" cy="1416039"/>
          </a:xfrm>
          <a:custGeom>
            <a:avLst/>
            <a:gdLst/>
            <a:ahLst/>
            <a:cxnLst/>
            <a:rect l="l" t="t" r="r" b="b"/>
            <a:pathLst>
              <a:path w="18519717" h="4518534">
                <a:moveTo>
                  <a:pt x="0" y="0"/>
                </a:moveTo>
                <a:lnTo>
                  <a:pt x="18519717" y="0"/>
                </a:lnTo>
                <a:lnTo>
                  <a:pt x="18519717" y="4518534"/>
                </a:lnTo>
                <a:lnTo>
                  <a:pt x="0" y="451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921" t="-491594" b="-373752"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9829800" y="3162301"/>
            <a:ext cx="0" cy="5449236"/>
          </a:xfrm>
          <a:prstGeom prst="line">
            <a:avLst/>
          </a:prstGeom>
          <a:ln w="38100" cap="flat">
            <a:solidFill>
              <a:srgbClr val="2C4C72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>
            <a:off x="10177103" y="3230925"/>
            <a:ext cx="3718170" cy="4519551"/>
          </a:xfrm>
          <a:custGeom>
            <a:avLst/>
            <a:gdLst/>
            <a:ahLst/>
            <a:cxnLst/>
            <a:rect l="l" t="t" r="r" b="b"/>
            <a:pathLst>
              <a:path w="3718170" h="4519551">
                <a:moveTo>
                  <a:pt x="0" y="0"/>
                </a:moveTo>
                <a:lnTo>
                  <a:pt x="3718170" y="0"/>
                </a:lnTo>
                <a:lnTo>
                  <a:pt x="3718170" y="4519551"/>
                </a:lnTo>
                <a:lnTo>
                  <a:pt x="0" y="4519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2C4C72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3895273" y="3230925"/>
            <a:ext cx="3841318" cy="4519551"/>
          </a:xfrm>
          <a:custGeom>
            <a:avLst/>
            <a:gdLst/>
            <a:ahLst/>
            <a:cxnLst/>
            <a:rect l="l" t="t" r="r" b="b"/>
            <a:pathLst>
              <a:path w="3841318" h="4519551">
                <a:moveTo>
                  <a:pt x="0" y="0"/>
                </a:moveTo>
                <a:lnTo>
                  <a:pt x="3841318" y="0"/>
                </a:lnTo>
                <a:lnTo>
                  <a:pt x="3841318" y="4519551"/>
                </a:lnTo>
                <a:lnTo>
                  <a:pt x="0" y="45195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1C3F60"/>
            </a:solidFill>
            <a:prstDash val="solid"/>
            <a:miter/>
          </a:ln>
        </p:spPr>
      </p:sp>
      <p:sp>
        <p:nvSpPr>
          <p:cNvPr id="17" name="AutoShape 17"/>
          <p:cNvSpPr/>
          <p:nvPr/>
        </p:nvSpPr>
        <p:spPr>
          <a:xfrm>
            <a:off x="2000556" y="5166604"/>
            <a:ext cx="6799217" cy="0"/>
          </a:xfrm>
          <a:prstGeom prst="line">
            <a:avLst/>
          </a:prstGeom>
          <a:ln w="38100" cap="flat">
            <a:solidFill>
              <a:srgbClr val="043C7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H="1" flipV="1">
            <a:off x="8799773" y="4824495"/>
            <a:ext cx="0" cy="342109"/>
          </a:xfrm>
          <a:prstGeom prst="line">
            <a:avLst/>
          </a:prstGeom>
          <a:ln w="38100" cap="flat">
            <a:solidFill>
              <a:srgbClr val="1C3F6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000208" y="2268689"/>
            <a:ext cx="3717012" cy="65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sz="3680" b="1" spc="-73" dirty="0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B. Model Analytics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427191"/>
            <a:ext cx="13986629" cy="143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69"/>
              </a:lnSpc>
              <a:spcBef>
                <a:spcPct val="0"/>
              </a:spcBef>
            </a:pPr>
            <a:r>
              <a:rPr lang="en-US" sz="6999" b="1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MedInsight Application &amp; Workflow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5795" y="7563786"/>
            <a:ext cx="8571559" cy="104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59" dirty="0">
                <a:solidFill>
                  <a:srgbClr val="1C3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evaluation , explainability and interpretation at one place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50983" y="8073978"/>
            <a:ext cx="7559488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-47" dirty="0">
                <a:solidFill>
                  <a:srgbClr val="1C3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Transforms model predictions into an actionable patient report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00259" y="2287739"/>
            <a:ext cx="465274" cy="64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1"/>
              </a:lnSpc>
              <a:spcBef>
                <a:spcPct val="0"/>
              </a:spcBef>
            </a:pPr>
            <a:r>
              <a:rPr lang="en-US" sz="3708" spc="-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29454" y="2278068"/>
            <a:ext cx="5405946" cy="610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sz="3680" b="1" spc="-73" dirty="0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Risk Reporting</a:t>
            </a:r>
          </a:p>
        </p:txBody>
      </p:sp>
      <p:sp>
        <p:nvSpPr>
          <p:cNvPr id="25" name="Freeform 25"/>
          <p:cNvSpPr/>
          <p:nvPr/>
        </p:nvSpPr>
        <p:spPr>
          <a:xfrm rot="2700000">
            <a:off x="1859901" y="5224866"/>
            <a:ext cx="281310" cy="281312"/>
          </a:xfrm>
          <a:custGeom>
            <a:avLst/>
            <a:gdLst/>
            <a:ahLst/>
            <a:cxnLst/>
            <a:rect l="l" t="t" r="r" b="b"/>
            <a:pathLst>
              <a:path w="283239" h="283239">
                <a:moveTo>
                  <a:pt x="0" y="0"/>
                </a:moveTo>
                <a:lnTo>
                  <a:pt x="283238" y="0"/>
                </a:lnTo>
                <a:lnTo>
                  <a:pt x="283238" y="283239"/>
                </a:lnTo>
                <a:lnTo>
                  <a:pt x="0" y="283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65B74F2C-7D01-7B08-3EAC-2D5AA220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9222" r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66775"/>
            <a:ext cx="3962757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spc="-13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1505" y="866775"/>
            <a:ext cx="3900249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spc="-13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82287" y="866775"/>
            <a:ext cx="4677013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spc="-13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 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5896922" y="1165482"/>
            <a:ext cx="0" cy="7220233"/>
          </a:xfrm>
          <a:prstGeom prst="line">
            <a:avLst/>
          </a:prstGeom>
          <a:ln w="3810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12000432" y="1165482"/>
            <a:ext cx="0" cy="7220233"/>
          </a:xfrm>
          <a:prstGeom prst="line">
            <a:avLst/>
          </a:prstGeom>
          <a:ln w="38100" cap="flat">
            <a:solidFill>
              <a:srgbClr val="000000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72855" y="2505021"/>
            <a:ext cx="4787045" cy="5320658"/>
            <a:chOff x="0" y="0"/>
            <a:chExt cx="1260786" cy="14013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0786" cy="1401326"/>
            </a:xfrm>
            <a:custGeom>
              <a:avLst/>
              <a:gdLst/>
              <a:ahLst/>
              <a:cxnLst/>
              <a:rect l="l" t="t" r="r" b="b"/>
              <a:pathLst>
                <a:path w="1260786" h="1401326">
                  <a:moveTo>
                    <a:pt x="42049" y="0"/>
                  </a:moveTo>
                  <a:lnTo>
                    <a:pt x="1218737" y="0"/>
                  </a:lnTo>
                  <a:cubicBezTo>
                    <a:pt x="1229889" y="0"/>
                    <a:pt x="1240584" y="4430"/>
                    <a:pt x="1248470" y="12316"/>
                  </a:cubicBezTo>
                  <a:cubicBezTo>
                    <a:pt x="1256355" y="20202"/>
                    <a:pt x="1260786" y="30897"/>
                    <a:pt x="1260786" y="42049"/>
                  </a:cubicBezTo>
                  <a:lnTo>
                    <a:pt x="1260786" y="1359277"/>
                  </a:lnTo>
                  <a:cubicBezTo>
                    <a:pt x="1260786" y="1370429"/>
                    <a:pt x="1256355" y="1381124"/>
                    <a:pt x="1248470" y="1389010"/>
                  </a:cubicBezTo>
                  <a:cubicBezTo>
                    <a:pt x="1240584" y="1396895"/>
                    <a:pt x="1229889" y="1401326"/>
                    <a:pt x="1218737" y="1401326"/>
                  </a:cubicBezTo>
                  <a:lnTo>
                    <a:pt x="42049" y="1401326"/>
                  </a:lnTo>
                  <a:cubicBezTo>
                    <a:pt x="30897" y="1401326"/>
                    <a:pt x="20202" y="1396895"/>
                    <a:pt x="12316" y="1389010"/>
                  </a:cubicBezTo>
                  <a:cubicBezTo>
                    <a:pt x="4430" y="1381124"/>
                    <a:pt x="0" y="1370429"/>
                    <a:pt x="0" y="1359277"/>
                  </a:cubicBezTo>
                  <a:lnTo>
                    <a:pt x="0" y="42049"/>
                  </a:lnTo>
                  <a:cubicBezTo>
                    <a:pt x="0" y="30897"/>
                    <a:pt x="4430" y="20202"/>
                    <a:pt x="12316" y="12316"/>
                  </a:cubicBezTo>
                  <a:cubicBezTo>
                    <a:pt x="20202" y="4430"/>
                    <a:pt x="30897" y="0"/>
                    <a:pt x="42049" y="0"/>
                  </a:cubicBezTo>
                  <a:close/>
                </a:path>
              </a:pathLst>
            </a:custGeom>
            <a:solidFill>
              <a:srgbClr val="F5FDFF"/>
            </a:solidFill>
            <a:ln w="38100" cap="rnd">
              <a:solidFill>
                <a:srgbClr val="1B7895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60786" cy="1439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5112" y="2939598"/>
            <a:ext cx="3954488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spc="-69" dirty="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recall (80%)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5112" y="3885869"/>
            <a:ext cx="5146060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3919"/>
              </a:lnSpc>
              <a:buFont typeface="Arial"/>
              <a:buChar char="•"/>
            </a:pPr>
            <a:r>
              <a:rPr lang="en-US" sz="3499" spc="-69" dirty="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class imbalance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5112" y="4721529"/>
            <a:ext cx="5146060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235"/>
              </a:lnSpc>
              <a:buFont typeface="Arial"/>
              <a:buChar char="•"/>
            </a:pPr>
            <a:r>
              <a:rPr lang="en-US" sz="3500" spc="-70" dirty="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predictions using SHAP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112" y="6117005"/>
            <a:ext cx="5146060" cy="93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570"/>
              </a:lnSpc>
              <a:buFont typeface="Arial"/>
              <a:buChar char="•"/>
            </a:pPr>
            <a:r>
              <a:rPr lang="en-US" sz="3500" spc="-70" dirty="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screening &amp; reporting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230297" y="2505021"/>
            <a:ext cx="5484945" cy="5320658"/>
            <a:chOff x="0" y="0"/>
            <a:chExt cx="1444595" cy="14013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44595" cy="1401326"/>
            </a:xfrm>
            <a:custGeom>
              <a:avLst/>
              <a:gdLst/>
              <a:ahLst/>
              <a:cxnLst/>
              <a:rect l="l" t="t" r="r" b="b"/>
              <a:pathLst>
                <a:path w="1444595" h="1401326">
                  <a:moveTo>
                    <a:pt x="36699" y="0"/>
                  </a:moveTo>
                  <a:lnTo>
                    <a:pt x="1407896" y="0"/>
                  </a:lnTo>
                  <a:cubicBezTo>
                    <a:pt x="1428164" y="0"/>
                    <a:pt x="1444595" y="16431"/>
                    <a:pt x="1444595" y="36699"/>
                  </a:cubicBezTo>
                  <a:lnTo>
                    <a:pt x="1444595" y="1364627"/>
                  </a:lnTo>
                  <a:cubicBezTo>
                    <a:pt x="1444595" y="1384895"/>
                    <a:pt x="1428164" y="1401326"/>
                    <a:pt x="1407896" y="1401326"/>
                  </a:cubicBezTo>
                  <a:lnTo>
                    <a:pt x="36699" y="1401326"/>
                  </a:lnTo>
                  <a:cubicBezTo>
                    <a:pt x="16431" y="1401326"/>
                    <a:pt x="0" y="1384895"/>
                    <a:pt x="0" y="1364627"/>
                  </a:cubicBezTo>
                  <a:lnTo>
                    <a:pt x="0" y="36699"/>
                  </a:lnTo>
                  <a:cubicBezTo>
                    <a:pt x="0" y="16431"/>
                    <a:pt x="16431" y="0"/>
                    <a:pt x="36699" y="0"/>
                  </a:cubicBezTo>
                  <a:close/>
                </a:path>
              </a:pathLst>
            </a:custGeom>
            <a:solidFill>
              <a:srgbClr val="F5FDFF"/>
            </a:solidFill>
            <a:ln w="38100" cap="rnd">
              <a:solidFill>
                <a:srgbClr val="1B7895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44595" cy="1439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96921" y="2823309"/>
            <a:ext cx="5836809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spc="-69" dirty="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precision and F1 score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04442" y="3738612"/>
            <a:ext cx="5514965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3919"/>
              </a:lnSpc>
              <a:buFont typeface="Arial"/>
              <a:buChar char="•"/>
            </a:pPr>
            <a:r>
              <a:rPr lang="en-US" sz="3499" spc="-69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positives remain high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04442" y="4536172"/>
            <a:ext cx="4619190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235"/>
              </a:lnSpc>
              <a:buFont typeface="Arial"/>
              <a:buChar char="•"/>
            </a:pPr>
            <a:r>
              <a:rPr lang="en-US" sz="3500" spc="-7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Screening tool, </a:t>
            </a:r>
            <a:r>
              <a:rPr lang="en-US" sz="3500" b="1" spc="-70">
                <a:solidFill>
                  <a:srgbClr val="0129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 a diagnosis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95437" y="5963335"/>
            <a:ext cx="5229775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235"/>
              </a:lnSpc>
              <a:buFont typeface="Arial"/>
              <a:buChar char="•"/>
            </a:pPr>
            <a:r>
              <a:rPr lang="en-US" sz="3500" spc="-7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depends on dataset quality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222163" y="2505021"/>
            <a:ext cx="5412129" cy="5320658"/>
            <a:chOff x="0" y="0"/>
            <a:chExt cx="1425417" cy="14013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25417" cy="1401326"/>
            </a:xfrm>
            <a:custGeom>
              <a:avLst/>
              <a:gdLst/>
              <a:ahLst/>
              <a:cxnLst/>
              <a:rect l="l" t="t" r="r" b="b"/>
              <a:pathLst>
                <a:path w="1425417" h="1401326">
                  <a:moveTo>
                    <a:pt x="37192" y="0"/>
                  </a:moveTo>
                  <a:lnTo>
                    <a:pt x="1388224" y="0"/>
                  </a:lnTo>
                  <a:cubicBezTo>
                    <a:pt x="1398088" y="0"/>
                    <a:pt x="1407548" y="3918"/>
                    <a:pt x="1414523" y="10893"/>
                  </a:cubicBezTo>
                  <a:cubicBezTo>
                    <a:pt x="1421498" y="17868"/>
                    <a:pt x="1425417" y="27328"/>
                    <a:pt x="1425417" y="37192"/>
                  </a:cubicBezTo>
                  <a:lnTo>
                    <a:pt x="1425417" y="1364133"/>
                  </a:lnTo>
                  <a:cubicBezTo>
                    <a:pt x="1425417" y="1373997"/>
                    <a:pt x="1421498" y="1383457"/>
                    <a:pt x="1414523" y="1390432"/>
                  </a:cubicBezTo>
                  <a:cubicBezTo>
                    <a:pt x="1407548" y="1397407"/>
                    <a:pt x="1398088" y="1401326"/>
                    <a:pt x="1388224" y="1401326"/>
                  </a:cubicBezTo>
                  <a:lnTo>
                    <a:pt x="37192" y="1401326"/>
                  </a:lnTo>
                  <a:cubicBezTo>
                    <a:pt x="27328" y="1401326"/>
                    <a:pt x="17868" y="1397407"/>
                    <a:pt x="10893" y="1390432"/>
                  </a:cubicBezTo>
                  <a:cubicBezTo>
                    <a:pt x="3918" y="1383457"/>
                    <a:pt x="0" y="1373997"/>
                    <a:pt x="0" y="1364133"/>
                  </a:cubicBezTo>
                  <a:lnTo>
                    <a:pt x="0" y="37192"/>
                  </a:lnTo>
                  <a:cubicBezTo>
                    <a:pt x="0" y="27328"/>
                    <a:pt x="3918" y="17868"/>
                    <a:pt x="10893" y="10893"/>
                  </a:cubicBezTo>
                  <a:cubicBezTo>
                    <a:pt x="17868" y="3918"/>
                    <a:pt x="27328" y="0"/>
                    <a:pt x="37192" y="0"/>
                  </a:cubicBezTo>
                  <a:close/>
                </a:path>
              </a:pathLst>
            </a:custGeom>
            <a:solidFill>
              <a:srgbClr val="F5FDFF"/>
            </a:solidFill>
            <a:ln w="38100" cap="rnd">
              <a:solidFill>
                <a:srgbClr val="1B7895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25417" cy="1439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000432" y="2751822"/>
            <a:ext cx="5633860" cy="9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l">
              <a:lnSpc>
                <a:spcPts val="3779"/>
              </a:lnSpc>
              <a:buFont typeface="Arial"/>
              <a:buChar char="•"/>
            </a:pPr>
            <a:r>
              <a:rPr lang="en-US" sz="3499" spc="-69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and more diverese datasets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00432" y="3885869"/>
            <a:ext cx="5508921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3919"/>
              </a:lnSpc>
              <a:buFont typeface="Arial"/>
              <a:buChar char="•"/>
            </a:pPr>
            <a:r>
              <a:rPr lang="en-US" sz="3499" spc="-69" dirty="0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External/clinical validation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28517" y="4709528"/>
            <a:ext cx="5452750" cy="917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3499"/>
              </a:lnSpc>
              <a:buFont typeface="Arial"/>
              <a:buChar char="•"/>
            </a:pPr>
            <a:r>
              <a:rPr lang="en-US" sz="3499" spc="-69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precision - recall balance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00432" y="5844591"/>
            <a:ext cx="5671164" cy="83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3079"/>
              </a:lnSpc>
              <a:buFont typeface="Arial"/>
              <a:buChar char="•"/>
            </a:pPr>
            <a:r>
              <a:rPr lang="en-US" sz="3499" spc="-69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ML / deep-learning models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981943" y="6901229"/>
            <a:ext cx="5087643" cy="84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3114"/>
              </a:lnSpc>
              <a:buFont typeface="Arial"/>
              <a:buChar char="•"/>
            </a:pPr>
            <a:r>
              <a:rPr lang="en-US" sz="3499" spc="-69">
                <a:solidFill>
                  <a:srgbClr val="0129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world clinical intergration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7D3EFB5-8087-E031-B944-406FA438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9249637" y="1248638"/>
            <a:ext cx="10287000" cy="7789725"/>
          </a:xfrm>
          <a:custGeom>
            <a:avLst/>
            <a:gdLst/>
            <a:ahLst/>
            <a:cxnLst/>
            <a:rect l="l" t="t" r="r" b="b"/>
            <a:pathLst>
              <a:path w="11286889" h="9190425">
                <a:moveTo>
                  <a:pt x="0" y="0"/>
                </a:moveTo>
                <a:lnTo>
                  <a:pt x="11286889" y="0"/>
                </a:lnTo>
                <a:lnTo>
                  <a:pt x="11286889" y="9190425"/>
                </a:lnTo>
                <a:lnTo>
                  <a:pt x="0" y="9190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299" b="-4003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427880" y="5815470"/>
            <a:ext cx="5237499" cy="0"/>
          </a:xfrm>
          <a:prstGeom prst="line">
            <a:avLst/>
          </a:prstGeom>
          <a:ln w="38100" cap="flat">
            <a:solidFill>
              <a:srgbClr val="345C72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rot="5400000">
            <a:off x="1385401" y="1934433"/>
            <a:ext cx="1004140" cy="1004140"/>
          </a:xfrm>
          <a:custGeom>
            <a:avLst/>
            <a:gdLst/>
            <a:ahLst/>
            <a:cxnLst/>
            <a:rect l="l" t="t" r="r" b="b"/>
            <a:pathLst>
              <a:path w="1004140" h="1004140">
                <a:moveTo>
                  <a:pt x="0" y="0"/>
                </a:moveTo>
                <a:lnTo>
                  <a:pt x="1004140" y="0"/>
                </a:lnTo>
                <a:lnTo>
                  <a:pt x="1004140" y="1004140"/>
                </a:lnTo>
                <a:lnTo>
                  <a:pt x="0" y="1004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385401" y="4579388"/>
            <a:ext cx="1004140" cy="1004140"/>
          </a:xfrm>
          <a:custGeom>
            <a:avLst/>
            <a:gdLst/>
            <a:ahLst/>
            <a:cxnLst/>
            <a:rect l="l" t="t" r="r" b="b"/>
            <a:pathLst>
              <a:path w="1004140" h="1004140">
                <a:moveTo>
                  <a:pt x="0" y="0"/>
                </a:moveTo>
                <a:lnTo>
                  <a:pt x="1004140" y="0"/>
                </a:lnTo>
                <a:lnTo>
                  <a:pt x="1004140" y="1004141"/>
                </a:lnTo>
                <a:lnTo>
                  <a:pt x="0" y="100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385401" y="7180953"/>
            <a:ext cx="1004140" cy="1004140"/>
          </a:xfrm>
          <a:custGeom>
            <a:avLst/>
            <a:gdLst/>
            <a:ahLst/>
            <a:cxnLst/>
            <a:rect l="l" t="t" r="r" b="b"/>
            <a:pathLst>
              <a:path w="1004140" h="1004140">
                <a:moveTo>
                  <a:pt x="0" y="0"/>
                </a:moveTo>
                <a:lnTo>
                  <a:pt x="1004140" y="0"/>
                </a:lnTo>
                <a:lnTo>
                  <a:pt x="1004140" y="1004140"/>
                </a:lnTo>
                <a:lnTo>
                  <a:pt x="0" y="1004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701" b="-2239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20825" y="2019684"/>
            <a:ext cx="460190" cy="489564"/>
          </a:xfrm>
          <a:custGeom>
            <a:avLst/>
            <a:gdLst/>
            <a:ahLst/>
            <a:cxnLst/>
            <a:rect l="l" t="t" r="r" b="b"/>
            <a:pathLst>
              <a:path w="460190" h="489564">
                <a:moveTo>
                  <a:pt x="0" y="0"/>
                </a:moveTo>
                <a:lnTo>
                  <a:pt x="460190" y="0"/>
                </a:lnTo>
                <a:lnTo>
                  <a:pt x="460190" y="489564"/>
                </a:lnTo>
                <a:lnTo>
                  <a:pt x="0" y="489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65355" y="4579388"/>
            <a:ext cx="446566" cy="446566"/>
          </a:xfrm>
          <a:custGeom>
            <a:avLst/>
            <a:gdLst/>
            <a:ahLst/>
            <a:cxnLst/>
            <a:rect l="l" t="t" r="r" b="b"/>
            <a:pathLst>
              <a:path w="446566" h="446566">
                <a:moveTo>
                  <a:pt x="0" y="0"/>
                </a:moveTo>
                <a:lnTo>
                  <a:pt x="446566" y="0"/>
                </a:lnTo>
                <a:lnTo>
                  <a:pt x="446566" y="446566"/>
                </a:lnTo>
                <a:lnTo>
                  <a:pt x="0" y="446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2950920" y="7180953"/>
            <a:ext cx="465356" cy="411840"/>
          </a:xfrm>
          <a:custGeom>
            <a:avLst/>
            <a:gdLst/>
            <a:ahLst/>
            <a:cxnLst/>
            <a:rect l="l" t="t" r="r" b="b"/>
            <a:pathLst>
              <a:path w="465356" h="411840">
                <a:moveTo>
                  <a:pt x="0" y="0"/>
                </a:moveTo>
                <a:lnTo>
                  <a:pt x="465357" y="0"/>
                </a:lnTo>
                <a:lnTo>
                  <a:pt x="465357" y="411840"/>
                </a:lnTo>
                <a:lnTo>
                  <a:pt x="0" y="411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606967" y="4484978"/>
            <a:ext cx="5058412" cy="10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00"/>
              </a:lnSpc>
              <a:spcBef>
                <a:spcPct val="0"/>
              </a:spcBef>
            </a:pPr>
            <a:r>
              <a:rPr lang="en-US" sz="8000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</a:t>
            </a:r>
            <a:r>
              <a:rPr lang="en-US" sz="8000" b="1" u="none" strike="noStrike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16277" y="2560914"/>
            <a:ext cx="6057678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spc="39">
                <a:solidFill>
                  <a:srgbClr val="1C3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MedInsight as an explainable ML based stroke risk screening system.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92335" y="7744833"/>
            <a:ext cx="595105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spc="39">
                <a:solidFill>
                  <a:srgbClr val="1C3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integrated workflow connects prediction, risk assessment, explanation and reporting.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92335" y="5149355"/>
            <a:ext cx="630982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spc="39">
                <a:solidFill>
                  <a:srgbClr val="1C3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model performance with SHAP explainability supports more transparent predictions.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7772" y="2293041"/>
            <a:ext cx="839398" cy="3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6"/>
              </a:lnSpc>
              <a:spcBef>
                <a:spcPct val="0"/>
              </a:spcBef>
            </a:pPr>
            <a:r>
              <a:rPr lang="en-US" sz="2296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</a:t>
            </a:r>
            <a:r>
              <a:rPr lang="en-US" sz="2296" b="1" u="none" strike="noStrike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7772" y="4937997"/>
            <a:ext cx="839398" cy="3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6"/>
              </a:lnSpc>
              <a:spcBef>
                <a:spcPct val="0"/>
              </a:spcBef>
            </a:pPr>
            <a:r>
              <a:rPr lang="en-US" sz="2296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7772" y="7539561"/>
            <a:ext cx="839398" cy="31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6"/>
              </a:lnSpc>
              <a:spcBef>
                <a:spcPct val="0"/>
              </a:spcBef>
            </a:pPr>
            <a:r>
              <a:rPr lang="en-US" sz="2296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45963" y="2009148"/>
            <a:ext cx="5758154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89"/>
              </a:lnSpc>
              <a:spcBef>
                <a:spcPct val="0"/>
              </a:spcBef>
            </a:pPr>
            <a:r>
              <a:rPr lang="en-US" sz="2899" b="1" spc="287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Achievement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2335" y="4520463"/>
            <a:ext cx="3250933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0"/>
              </a:lnSpc>
              <a:spcBef>
                <a:spcPct val="0"/>
              </a:spcBef>
            </a:pPr>
            <a:r>
              <a:rPr lang="en-US" sz="2900" b="1" spc="287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Insight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92335" y="7153965"/>
            <a:ext cx="3250933" cy="42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0"/>
              </a:lnSpc>
              <a:spcBef>
                <a:spcPct val="0"/>
              </a:spcBef>
            </a:pPr>
            <a:r>
              <a:rPr lang="en-US" sz="2900" b="1" spc="287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Impact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D55BBD5-4D77-6EC3-B35C-ADE1B0DD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r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>
            <a:off x="4535422" y="6406057"/>
            <a:ext cx="9441879" cy="0"/>
          </a:xfrm>
          <a:prstGeom prst="line">
            <a:avLst/>
          </a:prstGeom>
          <a:ln w="38100" cap="flat">
            <a:solidFill>
              <a:srgbClr val="1B7895">
                <a:alpha val="60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302355" y="4071443"/>
            <a:ext cx="15683290" cy="198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8"/>
              </a:lnSpc>
            </a:pPr>
            <a:r>
              <a:rPr lang="en-US" sz="14428" b="1">
                <a:solidFill>
                  <a:srgbClr val="1C3F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00600" y="6754932"/>
            <a:ext cx="5512408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27"/>
              </a:lnSpc>
              <a:spcBef>
                <a:spcPct val="0"/>
              </a:spcBef>
            </a:pPr>
            <a:r>
              <a:rPr lang="en-US" sz="4399" i="1" spc="-87" dirty="0">
                <a:solidFill>
                  <a:srgbClr val="1C3F6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Questions &amp; Discussion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F1068-9DAE-9177-6443-F1866CB8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777</Words>
  <Application>Microsoft Office PowerPoint</Application>
  <PresentationFormat>Custom</PresentationFormat>
  <Paragraphs>196</Paragraphs>
  <Slides>16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Times New Roman Bold</vt:lpstr>
      <vt:lpstr>Calibri</vt:lpstr>
      <vt:lpstr>Times New Roman</vt:lpstr>
      <vt:lpstr>Times New Roman MT</vt:lpstr>
      <vt:lpstr>Times New Roman Italics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MedInsight</dc:title>
  <dc:creator>DELL</dc:creator>
  <cp:lastModifiedBy>Priyodarshini Banerjee</cp:lastModifiedBy>
  <cp:revision>6</cp:revision>
  <dcterms:created xsi:type="dcterms:W3CDTF">2006-08-16T00:00:00Z</dcterms:created>
  <dcterms:modified xsi:type="dcterms:W3CDTF">2026-08-26T06:32:34Z</dcterms:modified>
  <dc:identifier>DAHTO1hVey4</dc:identifier>
</cp:coreProperties>
</file>